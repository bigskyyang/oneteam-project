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nuphan SemiBold"/>
      <p:bold r:id="rId18"/>
    </p:embeddedFont>
    <p:embeddedFont>
      <p:font typeface="Hauora Regular"/>
      <p:regular r:id="rId19"/>
    </p:embeddedFont>
    <p:embeddedFont>
      <p:font typeface="Hauora SemiBold"/>
      <p:bold r:id="rId20"/>
    </p:embeddedFont>
    <p:embeddedFont>
      <p:font typeface="Hauora Bold"/>
      <p:bold r:id="rId21"/>
    </p:embeddedFont>
    <p:embeddedFont>
      <p:font typeface="Noto Sans CJK KR Regular"/>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fntdata" Type="http://schemas.openxmlformats.org/officeDocument/2006/relationships/font"/><Relationship Id="rId19" Target="fonts/font2.fntdata" Type="http://schemas.openxmlformats.org/officeDocument/2006/relationships/font"/><Relationship Id="rId2" Target="presProps.xml" Type="http://schemas.openxmlformats.org/officeDocument/2006/relationships/presProps"/><Relationship Id="rId20" Target="fonts/font3.fntdata" Type="http://schemas.openxmlformats.org/officeDocument/2006/relationships/font"/><Relationship Id="rId21" Target="fonts/font4.fntdata" Type="http://schemas.openxmlformats.org/officeDocument/2006/relationships/font"/><Relationship Id="rId22" Target="fonts/font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23.png" Type="http://schemas.openxmlformats.org/officeDocument/2006/relationships/image"/><Relationship Id="rId15" Target="../media/image24.svg" Type="http://schemas.openxmlformats.org/officeDocument/2006/relationships/image"/><Relationship Id="rId16" Target="../media/image25.png" Type="http://schemas.openxmlformats.org/officeDocument/2006/relationships/image"/><Relationship Id="rId17" Target="../media/image26.svg" Type="http://schemas.openxmlformats.org/officeDocument/2006/relationships/image"/><Relationship Id="rId2" Target="../media/image16.png" Type="http://schemas.openxmlformats.org/officeDocument/2006/relationships/image"/><Relationship Id="rId3" Target="../media/image9.svg" Type="http://schemas.openxmlformats.org/officeDocument/2006/relationships/image"/><Relationship Id="rId4" Target="../media/image17.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8.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38.png" Type="http://schemas.openxmlformats.org/officeDocument/2006/relationships/image"/><Relationship Id="rId14" Target="../media/image39.svg" Type="http://schemas.openxmlformats.org/officeDocument/2006/relationships/image"/><Relationship Id="rId15" Target="../media/image40.png" Type="http://schemas.openxmlformats.org/officeDocument/2006/relationships/image"/><Relationship Id="rId16" Target="../media/image41.svg" Type="http://schemas.openxmlformats.org/officeDocument/2006/relationships/image"/><Relationship Id="rId17" Target="../media/image42.png" Type="http://schemas.openxmlformats.org/officeDocument/2006/relationships/image"/><Relationship Id="rId18" Target="../media/image43.svg" Type="http://schemas.openxmlformats.org/officeDocument/2006/relationships/image"/><Relationship Id="rId19" Target="../media/image44.png" Type="http://schemas.openxmlformats.org/officeDocument/2006/relationships/image"/><Relationship Id="rId2" Target="../media/image27.png" Type="http://schemas.openxmlformats.org/officeDocument/2006/relationships/image"/><Relationship Id="rId20" Target="../media/image45.svg" Type="http://schemas.openxmlformats.org/officeDocument/2006/relationships/image"/><Relationship Id="rId21" Target="../media/image46.png" Type="http://schemas.openxmlformats.org/officeDocument/2006/relationships/image"/><Relationship Id="rId22" Target="../media/image47.png" Type="http://schemas.openxmlformats.org/officeDocument/2006/relationships/image"/><Relationship Id="rId23" Target="../media/image9.svg" Type="http://schemas.openxmlformats.org/officeDocument/2006/relationships/image"/><Relationship Id="rId24" Target="../media/image48.png" Type="http://schemas.openxmlformats.org/officeDocument/2006/relationships/image"/><Relationship Id="rId25" Target="../media/image11.svg" Type="http://schemas.openxmlformats.org/officeDocument/2006/relationships/image"/><Relationship Id="rId26" Target="../media/image49.png" Type="http://schemas.openxmlformats.org/officeDocument/2006/relationships/image"/><Relationship Id="rId27" Target="../media/image13.svg" Type="http://schemas.openxmlformats.org/officeDocument/2006/relationships/image"/><Relationship Id="rId28" Target="../media/image14.png" Type="http://schemas.openxmlformats.org/officeDocument/2006/relationships/image"/><Relationship Id="rId29" Target="../media/image15.sv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55.png" Type="http://schemas.openxmlformats.org/officeDocument/2006/relationships/image"/><Relationship Id="rId12" Target="../media/image56.svg" Type="http://schemas.openxmlformats.org/officeDocument/2006/relationships/image"/><Relationship Id="rId2" Target="../media/image50.pn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png" Type="http://schemas.openxmlformats.org/officeDocument/2006/relationships/image"/><Relationship Id="rId6" Target="../media/image9.svg" Type="http://schemas.openxmlformats.org/officeDocument/2006/relationships/image"/><Relationship Id="rId7" Target="../media/image54.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png" Type="http://schemas.openxmlformats.org/officeDocument/2006/relationships/image"/><Relationship Id="rId11" Target="../media/image60.svg" Type="http://schemas.openxmlformats.org/officeDocument/2006/relationships/image"/><Relationship Id="rId12" Target="../media/image61.png" Type="http://schemas.openxmlformats.org/officeDocument/2006/relationships/image"/><Relationship Id="rId13" Target="../media/image62.svg" Type="http://schemas.openxmlformats.org/officeDocument/2006/relationships/image"/><Relationship Id="rId14" Target="../media/image63.png" Type="http://schemas.openxmlformats.org/officeDocument/2006/relationships/image"/><Relationship Id="rId15" Target="../media/image64.svg" Type="http://schemas.openxmlformats.org/officeDocument/2006/relationships/image"/><Relationship Id="rId16" Target="../media/image65.png" Type="http://schemas.openxmlformats.org/officeDocument/2006/relationships/image"/><Relationship Id="rId17" Target="../media/image66.svg" Type="http://schemas.openxmlformats.org/officeDocument/2006/relationships/image"/><Relationship Id="rId18" Target="../media/image67.png" Type="http://schemas.openxmlformats.org/officeDocument/2006/relationships/image"/><Relationship Id="rId19" Target="../media/image68.svg" Type="http://schemas.openxmlformats.org/officeDocument/2006/relationships/image"/><Relationship Id="rId2" Target="../media/image14.png" Type="http://schemas.openxmlformats.org/officeDocument/2006/relationships/image"/><Relationship Id="rId20" Target="../media/image69.png" Type="http://schemas.openxmlformats.org/officeDocument/2006/relationships/image"/><Relationship Id="rId21" Target="../media/image70.svg" Type="http://schemas.openxmlformats.org/officeDocument/2006/relationships/image"/><Relationship Id="rId22" Target="../media/image71.png" Type="http://schemas.openxmlformats.org/officeDocument/2006/relationships/image"/><Relationship Id="rId23" Target="../media/image72.svg" Type="http://schemas.openxmlformats.org/officeDocument/2006/relationships/image"/><Relationship Id="rId24" Target="../media/image73.png" Type="http://schemas.openxmlformats.org/officeDocument/2006/relationships/image"/><Relationship Id="rId25" Target="../media/image74.svg" Type="http://schemas.openxmlformats.org/officeDocument/2006/relationships/image"/><Relationship Id="rId26" Target="../media/image75.png" Type="http://schemas.openxmlformats.org/officeDocument/2006/relationships/image"/><Relationship Id="rId27" Target="../media/image76.svg" Type="http://schemas.openxmlformats.org/officeDocument/2006/relationships/image"/><Relationship Id="rId28" Target="../media/image77.png" Type="http://schemas.openxmlformats.org/officeDocument/2006/relationships/image"/><Relationship Id="rId29" Target="../media/image78.svg" Type="http://schemas.openxmlformats.org/officeDocument/2006/relationships/image"/><Relationship Id="rId3" Target="../media/image15.svg" Type="http://schemas.openxmlformats.org/officeDocument/2006/relationships/image"/><Relationship Id="rId30" Target="../media/image79.png" Type="http://schemas.openxmlformats.org/officeDocument/2006/relationships/image"/><Relationship Id="rId31" Target="../media/image80.svg" Type="http://schemas.openxmlformats.org/officeDocument/2006/relationships/image"/><Relationship Id="rId32" Target="../media/image81.png" Type="http://schemas.openxmlformats.org/officeDocument/2006/relationships/image"/><Relationship Id="rId33" Target="../media/image82.svg" Type="http://schemas.openxmlformats.org/officeDocument/2006/relationships/image"/><Relationship Id="rId34" Target="../media/image83.png" Type="http://schemas.openxmlformats.org/officeDocument/2006/relationships/image"/><Relationship Id="rId35" Target="../media/image84.svg" Type="http://schemas.openxmlformats.org/officeDocument/2006/relationships/image"/><Relationship Id="rId36" Target="../media/image85.png" Type="http://schemas.openxmlformats.org/officeDocument/2006/relationships/image"/><Relationship Id="rId37" Target="../media/image86.svg" Type="http://schemas.openxmlformats.org/officeDocument/2006/relationships/image"/><Relationship Id="rId38" Target="../media/image87.png" Type="http://schemas.openxmlformats.org/officeDocument/2006/relationships/image"/><Relationship Id="rId39" Target="../media/image88.svg" Type="http://schemas.openxmlformats.org/officeDocument/2006/relationships/image"/><Relationship Id="rId4" Target="../media/image57.png" Type="http://schemas.openxmlformats.org/officeDocument/2006/relationships/image"/><Relationship Id="rId40" Target="../media/image89.png" Type="http://schemas.openxmlformats.org/officeDocument/2006/relationships/image"/><Relationship Id="rId41" Target="../media/image90.png" Type="http://schemas.openxmlformats.org/officeDocument/2006/relationships/image"/><Relationship Id="rId42" Target="../media/image91.png" Type="http://schemas.openxmlformats.org/officeDocument/2006/relationships/image"/><Relationship Id="rId43" Target="../media/image92.svg" Type="http://schemas.openxmlformats.org/officeDocument/2006/relationships/image"/><Relationship Id="rId44" Target="../media/image93.png" Type="http://schemas.openxmlformats.org/officeDocument/2006/relationships/image"/><Relationship Id="rId45" Target="../media/image94.svg" Type="http://schemas.openxmlformats.org/officeDocument/2006/relationships/image"/><Relationship Id="rId5" Target="../media/image9.svg" Type="http://schemas.openxmlformats.org/officeDocument/2006/relationships/image"/><Relationship Id="rId6" Target="../media/image58.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99.png" Type="http://schemas.openxmlformats.org/officeDocument/2006/relationships/image"/><Relationship Id="rId13" Target="../media/image100.svg" Type="http://schemas.openxmlformats.org/officeDocument/2006/relationships/image"/><Relationship Id="rId14" Target="../media/image101.png" Type="http://schemas.openxmlformats.org/officeDocument/2006/relationships/image"/><Relationship Id="rId15" Target="../media/image102.svg" Type="http://schemas.openxmlformats.org/officeDocument/2006/relationships/image"/><Relationship Id="rId16" Target="../media/image61.png" Type="http://schemas.openxmlformats.org/officeDocument/2006/relationships/image"/><Relationship Id="rId17" Target="../media/image103.svg" Type="http://schemas.openxmlformats.org/officeDocument/2006/relationships/image"/><Relationship Id="rId18" Target="../media/image104.png" Type="http://schemas.openxmlformats.org/officeDocument/2006/relationships/image"/><Relationship Id="rId19" Target="../media/image105.png" Type="http://schemas.openxmlformats.org/officeDocument/2006/relationships/image"/><Relationship Id="rId2" Target="../media/image95.png" Type="http://schemas.openxmlformats.org/officeDocument/2006/relationships/image"/><Relationship Id="rId20" Target="../media/image106.svg" Type="http://schemas.openxmlformats.org/officeDocument/2006/relationships/image"/><Relationship Id="rId21" Target="../media/image107.png" Type="http://schemas.openxmlformats.org/officeDocument/2006/relationships/image"/><Relationship Id="rId22" Target="../media/image108.svg" Type="http://schemas.openxmlformats.org/officeDocument/2006/relationships/image"/><Relationship Id="rId23" Target="../media/image109.png" Type="http://schemas.openxmlformats.org/officeDocument/2006/relationships/image"/><Relationship Id="rId24" Target="../media/image110.svg" Type="http://schemas.openxmlformats.org/officeDocument/2006/relationships/image"/><Relationship Id="rId25" Target="../media/image111.png" Type="http://schemas.openxmlformats.org/officeDocument/2006/relationships/image"/><Relationship Id="rId26" Target="../media/image112.svg" Type="http://schemas.openxmlformats.org/officeDocument/2006/relationships/image"/><Relationship Id="rId3" Target="../media/image96.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97.png" Type="http://schemas.openxmlformats.org/officeDocument/2006/relationships/image"/><Relationship Id="rId7" Target="../media/image9.svg" Type="http://schemas.openxmlformats.org/officeDocument/2006/relationships/image"/><Relationship Id="rId8" Target="../media/image98.png" Type="http://schemas.openxmlformats.org/officeDocument/2006/relationships/image"/><Relationship Id="rId9"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17.png" Type="http://schemas.openxmlformats.org/officeDocument/2006/relationships/image"/><Relationship Id="rId13" Target="../media/image118.svg" Type="http://schemas.openxmlformats.org/officeDocument/2006/relationships/image"/><Relationship Id="rId14" Target="../media/image119.png" Type="http://schemas.openxmlformats.org/officeDocument/2006/relationships/image"/><Relationship Id="rId15" Target="../media/image120.svg" Type="http://schemas.openxmlformats.org/officeDocument/2006/relationships/image"/><Relationship Id="rId16" Target="../media/image121.png" Type="http://schemas.openxmlformats.org/officeDocument/2006/relationships/image"/><Relationship Id="rId17" Target="../media/image122.svg" Type="http://schemas.openxmlformats.org/officeDocument/2006/relationships/image"/><Relationship Id="rId18" Target="../media/image44.png" Type="http://schemas.openxmlformats.org/officeDocument/2006/relationships/image"/><Relationship Id="rId19" Target="../media/image45.svg" Type="http://schemas.openxmlformats.org/officeDocument/2006/relationships/image"/><Relationship Id="rId2" Target="../media/image14.png" Type="http://schemas.openxmlformats.org/officeDocument/2006/relationships/image"/><Relationship Id="rId20" Target="../media/image123.png" Type="http://schemas.openxmlformats.org/officeDocument/2006/relationships/image"/><Relationship Id="rId3" Target="../media/image15.svg" Type="http://schemas.openxmlformats.org/officeDocument/2006/relationships/image"/><Relationship Id="rId4" Target="../media/image113.png" Type="http://schemas.openxmlformats.org/officeDocument/2006/relationships/image"/><Relationship Id="rId5" Target="../media/image114.svg" Type="http://schemas.openxmlformats.org/officeDocument/2006/relationships/image"/><Relationship Id="rId6" Target="../media/image115.png" Type="http://schemas.openxmlformats.org/officeDocument/2006/relationships/image"/><Relationship Id="rId7" Target="../media/image9.svg" Type="http://schemas.openxmlformats.org/officeDocument/2006/relationships/image"/><Relationship Id="rId8" Target="../media/image116.png" Type="http://schemas.openxmlformats.org/officeDocument/2006/relationships/image"/><Relationship Id="rId9"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6.png" Type="http://schemas.openxmlformats.org/officeDocument/2006/relationships/image"/><Relationship Id="rId11" Target="../media/image127.svg" Type="http://schemas.openxmlformats.org/officeDocument/2006/relationships/image"/><Relationship Id="rId12" Target="../media/image128.png" Type="http://schemas.openxmlformats.org/officeDocument/2006/relationships/image"/><Relationship Id="rId13" Target="../media/image129.png" Type="http://schemas.openxmlformats.org/officeDocument/2006/relationships/image"/><Relationship Id="rId14" Target="../media/image130.svg" Type="http://schemas.openxmlformats.org/officeDocument/2006/relationships/image"/><Relationship Id="rId15" Target="../media/image131.png" Type="http://schemas.openxmlformats.org/officeDocument/2006/relationships/image"/><Relationship Id="rId16" Target="../media/image132.sv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24.png" Type="http://schemas.openxmlformats.org/officeDocument/2006/relationships/image"/><Relationship Id="rId5" Target="../media/image9.svg" Type="http://schemas.openxmlformats.org/officeDocument/2006/relationships/image"/><Relationship Id="rId6" Target="../media/image125.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141.png" Type="http://schemas.openxmlformats.org/officeDocument/2006/relationships/image"/><Relationship Id="rId15" Target="../media/image15.svg" Type="http://schemas.openxmlformats.org/officeDocument/2006/relationships/image"/><Relationship Id="rId16" Target="../media/image142.png" Type="http://schemas.openxmlformats.org/officeDocument/2006/relationships/image"/><Relationship Id="rId17" Target="../media/image143.svg" Type="http://schemas.openxmlformats.org/officeDocument/2006/relationships/image"/><Relationship Id="rId18" Target="../media/image144.png" Type="http://schemas.openxmlformats.org/officeDocument/2006/relationships/image"/><Relationship Id="rId19" Target="../media/image145.png" Type="http://schemas.openxmlformats.org/officeDocument/2006/relationships/image"/><Relationship Id="rId2" Target="../media/image133.png" Type="http://schemas.openxmlformats.org/officeDocument/2006/relationships/image"/><Relationship Id="rId20" Target="../media/image146.svg" Type="http://schemas.openxmlformats.org/officeDocument/2006/relationships/image"/><Relationship Id="rId21" Target="../media/image147.png" Type="http://schemas.openxmlformats.org/officeDocument/2006/relationships/image"/><Relationship Id="rId22" Target="../media/image148.svg" Type="http://schemas.openxmlformats.org/officeDocument/2006/relationships/image"/><Relationship Id="rId23" Target="../media/image149.png" Type="http://schemas.openxmlformats.org/officeDocument/2006/relationships/image"/><Relationship Id="rId24" Target="../media/image150.svg" Type="http://schemas.openxmlformats.org/officeDocument/2006/relationships/image"/><Relationship Id="rId25" Target="../media/image151.png" Type="http://schemas.openxmlformats.org/officeDocument/2006/relationships/image"/><Relationship Id="rId26" Target="../media/image152.svg" Type="http://schemas.openxmlformats.org/officeDocument/2006/relationships/image"/><Relationship Id="rId27" Target="../media/image153.png" Type="http://schemas.openxmlformats.org/officeDocument/2006/relationships/image"/><Relationship Id="rId28" Target="../media/image154.png" Type="http://schemas.openxmlformats.org/officeDocument/2006/relationships/image"/><Relationship Id="rId29" Target="../media/image155.png" Type="http://schemas.openxmlformats.org/officeDocument/2006/relationships/image"/><Relationship Id="rId3" Target="../media/image134.svg" Type="http://schemas.openxmlformats.org/officeDocument/2006/relationships/image"/><Relationship Id="rId30" Target="../media/image156.png" Type="http://schemas.openxmlformats.org/officeDocument/2006/relationships/image"/><Relationship Id="rId31" Target="../media/image157.svg" Type="http://schemas.openxmlformats.org/officeDocument/2006/relationships/image"/><Relationship Id="rId32" Target="../media/image158.png" Type="http://schemas.openxmlformats.org/officeDocument/2006/relationships/image"/><Relationship Id="rId4" Target="../media/image135.png" Type="http://schemas.openxmlformats.org/officeDocument/2006/relationships/image"/><Relationship Id="rId5" Target="../media/image136.svg" Type="http://schemas.openxmlformats.org/officeDocument/2006/relationships/image"/><Relationship Id="rId6" Target="../media/image137.png" Type="http://schemas.openxmlformats.org/officeDocument/2006/relationships/image"/><Relationship Id="rId7" Target="../media/image138.svg" Type="http://schemas.openxmlformats.org/officeDocument/2006/relationships/image"/><Relationship Id="rId8" Target="../media/image139.png" Type="http://schemas.openxmlformats.org/officeDocument/2006/relationships/image"/><Relationship Id="rId9"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2.png" Type="http://schemas.openxmlformats.org/officeDocument/2006/relationships/image"/><Relationship Id="rId11" Target="../media/image163.svg" Type="http://schemas.openxmlformats.org/officeDocument/2006/relationships/image"/><Relationship Id="rId12" Target="../media/image164.png" Type="http://schemas.openxmlformats.org/officeDocument/2006/relationships/image"/><Relationship Id="rId13" Target="../media/image165.svg" Type="http://schemas.openxmlformats.org/officeDocument/2006/relationships/image"/><Relationship Id="rId14" Target="../media/image166.png" Type="http://schemas.openxmlformats.org/officeDocument/2006/relationships/image"/><Relationship Id="rId15" Target="../media/image167.svg" Type="http://schemas.openxmlformats.org/officeDocument/2006/relationships/image"/><Relationship Id="rId16" Target="../media/image168.svg" Type="http://schemas.openxmlformats.org/officeDocument/2006/relationships/image"/><Relationship Id="rId17" Target="../media/image169.svg" Type="http://schemas.openxmlformats.org/officeDocument/2006/relationships/image"/><Relationship Id="rId18" Target="../media/image170.png" Type="http://schemas.openxmlformats.org/officeDocument/2006/relationships/image"/><Relationship Id="rId19" Target="../media/image171.svg" Type="http://schemas.openxmlformats.org/officeDocument/2006/relationships/image"/><Relationship Id="rId2" Target="../media/image159.png" Type="http://schemas.openxmlformats.org/officeDocument/2006/relationships/image"/><Relationship Id="rId20" Target="../media/image172.svg" Type="http://schemas.openxmlformats.org/officeDocument/2006/relationships/image"/><Relationship Id="rId21" Target="../media/image173.svg" Type="http://schemas.openxmlformats.org/officeDocument/2006/relationships/image"/><Relationship Id="rId22" Target="../media/image174.png" Type="http://schemas.openxmlformats.org/officeDocument/2006/relationships/image"/><Relationship Id="rId23" Target="../media/image175.svg" Type="http://schemas.openxmlformats.org/officeDocument/2006/relationships/image"/><Relationship Id="rId24" Target="../media/image176.png" Type="http://schemas.openxmlformats.org/officeDocument/2006/relationships/image"/><Relationship Id="rId25" Target="../media/image177.svg" Type="http://schemas.openxmlformats.org/officeDocument/2006/relationships/image"/><Relationship Id="rId26" Target="../media/image178.png" Type="http://schemas.openxmlformats.org/officeDocument/2006/relationships/image"/><Relationship Id="rId27" Target="../media/image179.svg" Type="http://schemas.openxmlformats.org/officeDocument/2006/relationships/image"/><Relationship Id="rId28" Target="../media/image180.png" Type="http://schemas.openxmlformats.org/officeDocument/2006/relationships/image"/><Relationship Id="rId29" Target="../media/image181.png" Type="http://schemas.openxmlformats.org/officeDocument/2006/relationships/image"/><Relationship Id="rId3" Target="../media/image15.svg" Type="http://schemas.openxmlformats.org/officeDocument/2006/relationships/image"/><Relationship Id="rId30" Target="../media/image182.svg" Type="http://schemas.openxmlformats.org/officeDocument/2006/relationships/image"/><Relationship Id="rId31" Target="../media/image183.png" Type="http://schemas.openxmlformats.org/officeDocument/2006/relationships/image"/><Relationship Id="rId32" Target="../media/image184.png" Type="http://schemas.openxmlformats.org/officeDocument/2006/relationships/image"/><Relationship Id="rId33" Target="../media/image185.svg" Type="http://schemas.openxmlformats.org/officeDocument/2006/relationships/image"/><Relationship Id="rId34" Target="../media/image186.png" Type="http://schemas.openxmlformats.org/officeDocument/2006/relationships/image"/><Relationship Id="rId35" Target="../media/image187.svg" Type="http://schemas.openxmlformats.org/officeDocument/2006/relationships/image"/><Relationship Id="rId36" Target="../media/image188.png" Type="http://schemas.openxmlformats.org/officeDocument/2006/relationships/image"/><Relationship Id="rId37" Target="../media/image189.svg" Type="http://schemas.openxmlformats.org/officeDocument/2006/relationships/image"/><Relationship Id="rId38" Target="../media/image190.png" Type="http://schemas.openxmlformats.org/officeDocument/2006/relationships/image"/><Relationship Id="rId39" Target="../media/image191.svg" Type="http://schemas.openxmlformats.org/officeDocument/2006/relationships/image"/><Relationship Id="rId4" Target="../media/image160.png" Type="http://schemas.openxmlformats.org/officeDocument/2006/relationships/image"/><Relationship Id="rId40" Target="../media/image192.png" Type="http://schemas.openxmlformats.org/officeDocument/2006/relationships/image"/><Relationship Id="rId41" Target="../media/image193.svg" Type="http://schemas.openxmlformats.org/officeDocument/2006/relationships/image"/><Relationship Id="rId42" Target="../media/image194.png" Type="http://schemas.openxmlformats.org/officeDocument/2006/relationships/image"/><Relationship Id="rId43" Target="../media/image195.svg" Type="http://schemas.openxmlformats.org/officeDocument/2006/relationships/image"/><Relationship Id="rId5" Target="../media/image9.svg" Type="http://schemas.openxmlformats.org/officeDocument/2006/relationships/image"/><Relationship Id="rId6" Target="../media/image161.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8.png" Type="http://schemas.openxmlformats.org/officeDocument/2006/relationships/image"/><Relationship Id="rId11" Target="../media/image199.svg" Type="http://schemas.openxmlformats.org/officeDocument/2006/relationships/image"/><Relationship Id="rId12" Target="../media/image87.png" Type="http://schemas.openxmlformats.org/officeDocument/2006/relationships/image"/><Relationship Id="rId13" Target="../media/image66.svg" Type="http://schemas.openxmlformats.org/officeDocument/2006/relationships/image"/><Relationship Id="rId14" Target="../media/image67.png" Type="http://schemas.openxmlformats.org/officeDocument/2006/relationships/image"/><Relationship Id="rId15" Target="../media/image68.svg" Type="http://schemas.openxmlformats.org/officeDocument/2006/relationships/image"/><Relationship Id="rId16" Target="../media/image200.png" Type="http://schemas.openxmlformats.org/officeDocument/2006/relationships/image"/><Relationship Id="rId17" Target="../media/image201.svg" Type="http://schemas.openxmlformats.org/officeDocument/2006/relationships/image"/><Relationship Id="rId18" Target="../media/image75.png" Type="http://schemas.openxmlformats.org/officeDocument/2006/relationships/image"/><Relationship Id="rId19" Target="../media/image76.svg" Type="http://schemas.openxmlformats.org/officeDocument/2006/relationships/image"/><Relationship Id="rId2" Target="../media/image14.png" Type="http://schemas.openxmlformats.org/officeDocument/2006/relationships/image"/><Relationship Id="rId20" Target="../media/image77.png" Type="http://schemas.openxmlformats.org/officeDocument/2006/relationships/image"/><Relationship Id="rId21" Target="../media/image78.svg" Type="http://schemas.openxmlformats.org/officeDocument/2006/relationships/image"/><Relationship Id="rId22" Target="../media/image202.png" Type="http://schemas.openxmlformats.org/officeDocument/2006/relationships/image"/><Relationship Id="rId23" Target="../media/image203.svg" Type="http://schemas.openxmlformats.org/officeDocument/2006/relationships/image"/><Relationship Id="rId24" Target="../media/image65.png" Type="http://schemas.openxmlformats.org/officeDocument/2006/relationships/image"/><Relationship Id="rId25" Target="../media/image88.svg" Type="http://schemas.openxmlformats.org/officeDocument/2006/relationships/image"/><Relationship Id="rId26" Target="../media/image204.png" Type="http://schemas.openxmlformats.org/officeDocument/2006/relationships/image"/><Relationship Id="rId27" Target="../media/image205.png" Type="http://schemas.openxmlformats.org/officeDocument/2006/relationships/image"/><Relationship Id="rId28" Target="../media/image206.svg" Type="http://schemas.openxmlformats.org/officeDocument/2006/relationships/image"/><Relationship Id="rId29" Target="../media/image207.png" Type="http://schemas.openxmlformats.org/officeDocument/2006/relationships/image"/><Relationship Id="rId3" Target="../media/image15.svg" Type="http://schemas.openxmlformats.org/officeDocument/2006/relationships/image"/><Relationship Id="rId30" Target="../media/image208.svg" Type="http://schemas.openxmlformats.org/officeDocument/2006/relationships/image"/><Relationship Id="rId31" Target="../media/image209.svg" Type="http://schemas.openxmlformats.org/officeDocument/2006/relationships/image"/><Relationship Id="rId32" Target="../media/image210.png" Type="http://schemas.openxmlformats.org/officeDocument/2006/relationships/image"/><Relationship Id="rId33" Target="../media/image211.svg" Type="http://schemas.openxmlformats.org/officeDocument/2006/relationships/image"/><Relationship Id="rId34" Target="../media/image212.png" Type="http://schemas.openxmlformats.org/officeDocument/2006/relationships/image"/><Relationship Id="rId35" Target="../media/image213.svg" Type="http://schemas.openxmlformats.org/officeDocument/2006/relationships/image"/><Relationship Id="rId4" Target="../media/image196.png" Type="http://schemas.openxmlformats.org/officeDocument/2006/relationships/image"/><Relationship Id="rId5" Target="../media/image9.svg" Type="http://schemas.openxmlformats.org/officeDocument/2006/relationships/image"/><Relationship Id="rId6" Target="../media/image197.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2.png" Type="http://schemas.openxmlformats.org/officeDocument/2006/relationships/image"/><Relationship Id="rId11" Target="../media/image223.svg" Type="http://schemas.openxmlformats.org/officeDocument/2006/relationships/image"/><Relationship Id="rId12" Target="../media/image224.png" Type="http://schemas.openxmlformats.org/officeDocument/2006/relationships/image"/><Relationship Id="rId13" Target="../media/image225.svg" Type="http://schemas.openxmlformats.org/officeDocument/2006/relationships/image"/><Relationship Id="rId14" Target="../media/image40.png" Type="http://schemas.openxmlformats.org/officeDocument/2006/relationships/image"/><Relationship Id="rId15" Target="../media/image226.svg" Type="http://schemas.openxmlformats.org/officeDocument/2006/relationships/image"/><Relationship Id="rId16" Target="../media/image227.png" Type="http://schemas.openxmlformats.org/officeDocument/2006/relationships/image"/><Relationship Id="rId17" Target="../media/image228.png" Type="http://schemas.openxmlformats.org/officeDocument/2006/relationships/image"/><Relationship Id="rId18" Target="../media/image229.svg" Type="http://schemas.openxmlformats.org/officeDocument/2006/relationships/image"/><Relationship Id="rId19" Target="../media/image230.png" Type="http://schemas.openxmlformats.org/officeDocument/2006/relationships/image"/><Relationship Id="rId2" Target="../media/image214.png" Type="http://schemas.openxmlformats.org/officeDocument/2006/relationships/image"/><Relationship Id="rId20" Target="../media/image231.svg" Type="http://schemas.openxmlformats.org/officeDocument/2006/relationships/image"/><Relationship Id="rId21" Target="../media/image232.png" Type="http://schemas.openxmlformats.org/officeDocument/2006/relationships/image"/><Relationship Id="rId22" Target="../media/image233.svg" Type="http://schemas.openxmlformats.org/officeDocument/2006/relationships/image"/><Relationship Id="rId3" Target="../media/image215.svg" Type="http://schemas.openxmlformats.org/officeDocument/2006/relationships/image"/><Relationship Id="rId4" Target="../media/image216.png" Type="http://schemas.openxmlformats.org/officeDocument/2006/relationships/image"/><Relationship Id="rId5" Target="../media/image217.svg" Type="http://schemas.openxmlformats.org/officeDocument/2006/relationships/image"/><Relationship Id="rId6" Target="../media/image218.png" Type="http://schemas.openxmlformats.org/officeDocument/2006/relationships/image"/><Relationship Id="rId7" Target="../media/image219.svg" Type="http://schemas.openxmlformats.org/officeDocument/2006/relationships/image"/><Relationship Id="rId8" Target="../media/image220.png" Type="http://schemas.openxmlformats.org/officeDocument/2006/relationships/image"/><Relationship Id="rId9" Target="../media/image221.svg" Type="http://schemas.openxmlformats.org/officeDocument/2006/relationships/image"/></Relationships>
</file>

<file path=ppt/slides/slide1.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2984500" y="6985000"/>
            <a:ext cx="2438400" cy="5207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4851400" y="7023100"/>
            <a:ext cx="444500" cy="444500"/>
          </a:xfrm>
          <a:prstGeom prst="rect">
            <a:avLst/>
          </a:prstGeom>
        </p:spPr>
      </p:pic>
      <p:pic>
        <p:nvPicPr>
          <p:cNvPr name="Picture 4" id="4"/>
          <p:cNvPicPr>
            <a:picLocks noChangeAspect="true"/>
          </p:cNvPicPr>
          <p:nvPr/>
        </p:nvPicPr>
        <p:blipFill>
          <a:blip r:embed="rId6"/>
          <a:stretch>
            <a:fillRect/>
          </a:stretch>
        </p:blipFill>
        <p:spPr>
          <a:xfrm rot="0">
            <a:off x="10401300" y="2286000"/>
            <a:ext cx="6629400" cy="6629400"/>
          </a:xfrm>
          <a:prstGeom prst="rect">
            <a:avLst/>
          </a:prstGeom>
        </p:spPr>
      </p:pic>
      <p:pic>
        <p:nvPicPr>
          <p:cNvPr name="Picture 5" id="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a:off x="762000" y="6985000"/>
            <a:ext cx="2082800" cy="520700"/>
          </a:xfrm>
          <a:prstGeom prst="rect">
            <a:avLst/>
          </a:prstGeom>
        </p:spPr>
      </p:pic>
      <p:pic>
        <p:nvPicPr>
          <p:cNvPr name="Picture 6" id="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a:off x="10401300" y="546100"/>
            <a:ext cx="7162800" cy="546100"/>
          </a:xfrm>
          <a:prstGeom prst="rect">
            <a:avLst/>
          </a:prstGeom>
        </p:spPr>
      </p:pic>
      <p:pic>
        <p:nvPicPr>
          <p:cNvPr name="Picture 7" id="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a:off x="15608300" y="546100"/>
            <a:ext cx="1943100" cy="546100"/>
          </a:xfrm>
          <a:prstGeom prst="rect">
            <a:avLst/>
          </a:prstGeom>
        </p:spPr>
      </p:pic>
      <p:pic>
        <p:nvPicPr>
          <p:cNvPr name="Picture 8" id="8"/>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a:off x="17119600" y="673100"/>
            <a:ext cx="304800" cy="304800"/>
          </a:xfrm>
          <a:prstGeom prst="rect">
            <a:avLst/>
          </a:prstGeom>
        </p:spPr>
      </p:pic>
      <p:pic>
        <p:nvPicPr>
          <p:cNvPr name="Picture 9" id="9"/>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a:off x="762000" y="698500"/>
            <a:ext cx="495300" cy="279400"/>
          </a:xfrm>
          <a:prstGeom prst="rect">
            <a:avLst/>
          </a:prstGeom>
        </p:spPr>
      </p:pic>
      <p:sp>
        <p:nvSpPr>
          <p:cNvPr name="TextBox 10" id="10"/>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11" id="11"/>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12" id="12"/>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13" id="13"/>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14" id="14"/>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171717"/>
                </a:solidFill>
                <a:latin typeface="Hauora SemiBold"/>
                <a:ea typeface="Hauora SemiBold"/>
                <a:cs typeface="Hauora SemiBold"/>
              </a:rPr>
              <a:t>MIRI Company</a:t>
            </a:r>
          </a:p>
        </p:txBody>
      </p:sp>
      <p:sp>
        <p:nvSpPr>
          <p:cNvPr name="TextBox 15" id="15"/>
          <p:cNvSpPr txBox="true"/>
          <p:nvPr/>
        </p:nvSpPr>
        <p:spPr>
          <a:xfrm rot="0">
            <a:off x="914400" y="7099300"/>
            <a:ext cx="1765300" cy="304800"/>
          </a:xfrm>
          <a:prstGeom prst="rect">
            <a:avLst/>
          </a:prstGeom>
        </p:spPr>
        <p:txBody>
          <a:bodyPr anchor="t" rtlCol="false" lIns="0" tIns="22860" rIns="0" bIns="0"/>
          <a:lstStyle/>
          <a:p>
            <a:pPr algn="ctr" lvl="0">
              <a:lnSpc>
                <a:spcPct val="99600"/>
              </a:lnSpc>
            </a:pPr>
            <a:r>
              <a:rPr lang="en-US" sz="1603" b="false" i="false" u="none" strike="noStrike">
                <a:solidFill>
                  <a:srgbClr val="171717"/>
                </a:solidFill>
                <a:latin typeface="Anuphan SemiBold"/>
                <a:ea typeface="Anuphan SemiBold"/>
                <a:cs typeface="Anuphan SemiBold"/>
              </a:rPr>
              <a:t>LOREM IPSUM</a:t>
            </a:r>
          </a:p>
        </p:txBody>
      </p:sp>
      <p:sp>
        <p:nvSpPr>
          <p:cNvPr name="TextBox 16" id="16"/>
          <p:cNvSpPr txBox="true"/>
          <p:nvPr/>
        </p:nvSpPr>
        <p:spPr>
          <a:xfrm rot="0">
            <a:off x="723900" y="8331200"/>
            <a:ext cx="1854200" cy="596900"/>
          </a:xfrm>
          <a:prstGeom prst="rect">
            <a:avLst/>
          </a:prstGeom>
        </p:spPr>
        <p:txBody>
          <a:bodyPr anchor="t" rtlCol="false" lIns="0" tIns="0" rIns="0" bIns="0"/>
          <a:lstStyle/>
          <a:p>
            <a:pPr algn="l" lvl="0">
              <a:lnSpc>
                <a:spcPct val="116199"/>
              </a:lnSpc>
            </a:pPr>
            <a:r>
              <a:rPr lang="en-US" sz="1599" b="false" i="false" u="none" strike="noStrike">
                <a:solidFill>
                  <a:srgbClr val="171717"/>
                </a:solidFill>
                <a:latin typeface="Hauora Regular"/>
                <a:ea typeface="Hauora Regular"/>
                <a:cs typeface="Hauora Regular"/>
              </a:rPr>
              <a:t>Prepared by:</a:t>
            </a:r>
          </a:p>
          <a:p>
            <a:pPr algn="l" lvl="0">
              <a:lnSpc>
                <a:spcPct val="116199"/>
              </a:lnSpc>
            </a:pPr>
            <a:r>
              <a:rPr lang="en-US" sz="1599" b="false" i="false" u="none" strike="noStrike">
                <a:solidFill>
                  <a:srgbClr val="171717"/>
                </a:solidFill>
                <a:latin typeface="Hauora SemiBold"/>
                <a:ea typeface="Hauora SemiBold"/>
                <a:cs typeface="Hauora SemiBold"/>
              </a:rPr>
              <a:t>Taylor Lee</a:t>
            </a:r>
          </a:p>
        </p:txBody>
      </p:sp>
      <p:sp>
        <p:nvSpPr>
          <p:cNvPr name="TextBox 17" id="17"/>
          <p:cNvSpPr txBox="true"/>
          <p:nvPr/>
        </p:nvSpPr>
        <p:spPr>
          <a:xfrm rot="0">
            <a:off x="3251200" y="8610600"/>
            <a:ext cx="2552700" cy="304800"/>
          </a:xfrm>
          <a:prstGeom prst="rect">
            <a:avLst/>
          </a:prstGeom>
        </p:spPr>
        <p:txBody>
          <a:bodyPr anchor="t" rtlCol="false" lIns="0" tIns="0" rIns="0" bIns="0"/>
          <a:lstStyle/>
          <a:p>
            <a:pPr algn="l" lvl="0">
              <a:lnSpc>
                <a:spcPct val="116199"/>
              </a:lnSpc>
            </a:pPr>
            <a:r>
              <a:rPr lang="en-US" sz="1599" b="false" i="false" u="none" strike="noStrike">
                <a:solidFill>
                  <a:srgbClr val="171717"/>
                </a:solidFill>
                <a:latin typeface="Hauora Regular"/>
                <a:ea typeface="Hauora Regular"/>
                <a:cs typeface="Hauora Regular"/>
              </a:rPr>
              <a:t>miri@yourcompany.com</a:t>
            </a:r>
          </a:p>
        </p:txBody>
      </p:sp>
      <p:sp>
        <p:nvSpPr>
          <p:cNvPr name="TextBox 18" id="18"/>
          <p:cNvSpPr txBox="true"/>
          <p:nvPr/>
        </p:nvSpPr>
        <p:spPr>
          <a:xfrm rot="0">
            <a:off x="6654800" y="8610600"/>
            <a:ext cx="2552700" cy="304800"/>
          </a:xfrm>
          <a:prstGeom prst="rect">
            <a:avLst/>
          </a:prstGeom>
        </p:spPr>
        <p:txBody>
          <a:bodyPr anchor="t" rtlCol="false" lIns="0" tIns="0" rIns="0" bIns="0"/>
          <a:lstStyle/>
          <a:p>
            <a:pPr algn="l" lvl="0">
              <a:lnSpc>
                <a:spcPct val="116199"/>
              </a:lnSpc>
            </a:pPr>
            <a:r>
              <a:rPr lang="en-US" sz="1599" b="false" i="false" u="none" strike="noStrike">
                <a:solidFill>
                  <a:srgbClr val="171717"/>
                </a:solidFill>
                <a:latin typeface="Hauora Regular"/>
                <a:ea typeface="Hauora Regular"/>
                <a:cs typeface="Hauora Regular"/>
              </a:rPr>
              <a:t>000-0000-0000</a:t>
            </a:r>
          </a:p>
        </p:txBody>
      </p:sp>
      <p:sp>
        <p:nvSpPr>
          <p:cNvPr name="TextBox 19" id="19"/>
          <p:cNvSpPr txBox="true"/>
          <p:nvPr/>
        </p:nvSpPr>
        <p:spPr>
          <a:xfrm rot="0">
            <a:off x="3124200" y="7099300"/>
            <a:ext cx="1778000" cy="304800"/>
          </a:xfrm>
          <a:prstGeom prst="rect">
            <a:avLst/>
          </a:prstGeom>
        </p:spPr>
        <p:txBody>
          <a:bodyPr anchor="t" rtlCol="false" lIns="0" tIns="22860" rIns="0" bIns="0"/>
          <a:lstStyle/>
          <a:p>
            <a:pPr algn="ctr" lvl="0">
              <a:lnSpc>
                <a:spcPct val="99600"/>
              </a:lnSpc>
            </a:pPr>
            <a:r>
              <a:rPr lang="en-US" sz="1603" b="false" i="false" u="none" strike="noStrike">
                <a:solidFill>
                  <a:srgbClr val="171717"/>
                </a:solidFill>
                <a:latin typeface="Anuphan SemiBold"/>
                <a:ea typeface="Anuphan SemiBold"/>
                <a:cs typeface="Anuphan SemiBold"/>
              </a:rPr>
              <a:t>LOREM IPSUM</a:t>
            </a:r>
          </a:p>
        </p:txBody>
      </p:sp>
      <p:sp>
        <p:nvSpPr>
          <p:cNvPr name="TextBox 20" id="20"/>
          <p:cNvSpPr txBox="true"/>
          <p:nvPr/>
        </p:nvSpPr>
        <p:spPr>
          <a:xfrm rot="0">
            <a:off x="723900" y="5740400"/>
            <a:ext cx="8534400" cy="952500"/>
          </a:xfrm>
          <a:prstGeom prst="rect">
            <a:avLst/>
          </a:prstGeom>
        </p:spPr>
        <p:txBody>
          <a:bodyPr anchor="t" rtlCol="false" lIns="0" tIns="0" rIns="0" bIns="0"/>
          <a:lstStyle/>
          <a:p>
            <a:pPr algn="l" lvl="0">
              <a:lnSpc>
                <a:spcPct val="116199"/>
              </a:lnSpc>
            </a:pPr>
            <a:r>
              <a:rPr lang="en-US" sz="2600" b="false" i="false" u="none" strike="noStrike">
                <a:solidFill>
                  <a:srgbClr val="171717"/>
                </a:solidFill>
                <a:latin typeface="Hauora Regular"/>
                <a:ea typeface="Hauora Regular"/>
                <a:cs typeface="Hauora Regular"/>
              </a:rPr>
              <a:t>Scaling the Sales Pipeline for TechFlow:</a:t>
            </a:r>
          </a:p>
          <a:p>
            <a:pPr algn="l" lvl="0">
              <a:lnSpc>
                <a:spcPct val="116199"/>
              </a:lnSpc>
            </a:pPr>
            <a:r>
              <a:rPr lang="en-US" sz="2600" b="false" i="false" u="none" strike="noStrike">
                <a:solidFill>
                  <a:srgbClr val="171717"/>
                </a:solidFill>
                <a:latin typeface="Hauora Regular"/>
                <a:ea typeface="Hauora Regular"/>
                <a:cs typeface="Hauora Regular"/>
              </a:rPr>
              <a:t>The Path to a 30% Increase in Win Rates.</a:t>
            </a:r>
          </a:p>
        </p:txBody>
      </p:sp>
      <p:sp>
        <p:nvSpPr>
          <p:cNvPr name="TextBox 21" id="21"/>
          <p:cNvSpPr txBox="true"/>
          <p:nvPr/>
        </p:nvSpPr>
        <p:spPr>
          <a:xfrm rot="0">
            <a:off x="419100" y="2082800"/>
            <a:ext cx="9448800" cy="3327400"/>
          </a:xfrm>
          <a:prstGeom prst="rect">
            <a:avLst/>
          </a:prstGeom>
        </p:spPr>
        <p:txBody>
          <a:bodyPr anchor="t" rtlCol="false" lIns="0" tIns="127000" rIns="0" bIns="0"/>
          <a:lstStyle/>
          <a:p>
            <a:pPr algn="l" lvl="0">
              <a:lnSpc>
                <a:spcPct val="99600"/>
              </a:lnSpc>
            </a:pPr>
            <a:r>
              <a:rPr lang="en-US" sz="9999" b="false" i="false" u="none" strike="noStrike">
                <a:solidFill>
                  <a:srgbClr val="171717"/>
                </a:solidFill>
                <a:latin typeface="Anuphan SemiBold"/>
                <a:ea typeface="Anuphan SemiBold"/>
                <a:cs typeface="Anuphan SemiBold"/>
              </a:rPr>
              <a:t>Cover &amp; Value Proposition</a:t>
            </a:r>
          </a:p>
        </p:txBody>
      </p:sp>
    </p:spTree>
  </p:cSld>
  <p:clrMapOvr>
    <a:masterClrMapping/>
  </p:clrMapOvr>
</p:sld>
</file>

<file path=ppt/slides/slide2.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10401300" y="546100"/>
            <a:ext cx="7162800" cy="5461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15608300" y="546100"/>
            <a:ext cx="1943100" cy="5461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a:off x="17119600" y="673100"/>
            <a:ext cx="304800" cy="304800"/>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a:off x="762000" y="698500"/>
            <a:ext cx="495300" cy="279400"/>
          </a:xfrm>
          <a:prstGeom prst="rect">
            <a:avLst/>
          </a:prstGeom>
        </p:spPr>
      </p:pic>
      <p:pic>
        <p:nvPicPr>
          <p:cNvPr name="Picture 6" id="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a:off x="9131300" y="1879600"/>
            <a:ext cx="3797300" cy="7797800"/>
          </a:xfrm>
          <a:prstGeom prst="rect">
            <a:avLst/>
          </a:prstGeom>
        </p:spPr>
      </p:pic>
      <p:pic>
        <p:nvPicPr>
          <p:cNvPr name="Picture 7" id="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a:off x="13233400" y="1879600"/>
            <a:ext cx="3797300" cy="7797800"/>
          </a:xfrm>
          <a:prstGeom prst="rect">
            <a:avLst/>
          </a:prstGeom>
        </p:spPr>
      </p:pic>
      <p:pic>
        <p:nvPicPr>
          <p:cNvPr name="Picture 8" id="8"/>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9550400" y="2120900"/>
            <a:ext cx="1168400" cy="457200"/>
          </a:xfrm>
          <a:prstGeom prst="rect">
            <a:avLst/>
          </a:prstGeom>
        </p:spPr>
      </p:pic>
      <p:pic>
        <p:nvPicPr>
          <p:cNvPr name="Picture 9" id="9"/>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a:off x="13652500" y="2133600"/>
            <a:ext cx="1168400" cy="457200"/>
          </a:xfrm>
          <a:prstGeom prst="rect">
            <a:avLst/>
          </a:prstGeom>
        </p:spPr>
      </p:pic>
      <p:sp>
        <p:nvSpPr>
          <p:cNvPr name="TextBox 10" id="10"/>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11" id="11"/>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12" id="12"/>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13" id="13"/>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14" id="14"/>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171717"/>
                </a:solidFill>
                <a:latin typeface="Hauora SemiBold"/>
                <a:ea typeface="Hauora SemiBold"/>
                <a:cs typeface="Hauora SemiBold"/>
              </a:rPr>
              <a:t>MIRI Company</a:t>
            </a:r>
          </a:p>
        </p:txBody>
      </p:sp>
      <p:sp>
        <p:nvSpPr>
          <p:cNvPr name="TextBox 15" id="15"/>
          <p:cNvSpPr txBox="true"/>
          <p:nvPr/>
        </p:nvSpPr>
        <p:spPr>
          <a:xfrm rot="0">
            <a:off x="762000" y="1739900"/>
            <a:ext cx="6591300" cy="2540000"/>
          </a:xfrm>
          <a:prstGeom prst="rect">
            <a:avLst/>
          </a:prstGeom>
        </p:spPr>
        <p:txBody>
          <a:bodyPr anchor="t" rtlCol="false" lIns="0" tIns="96520" rIns="0" bIns="0"/>
          <a:lstStyle/>
          <a:p>
            <a:pPr algn="l" lvl="0">
              <a:lnSpc>
                <a:spcPct val="99600"/>
              </a:lnSpc>
            </a:pPr>
            <a:r>
              <a:rPr lang="en-US" sz="7598" b="false" i="false" u="none" strike="noStrike">
                <a:solidFill>
                  <a:srgbClr val="171717"/>
                </a:solidFill>
                <a:latin typeface="Anuphan SemiBold"/>
                <a:ea typeface="Anuphan SemiBold"/>
                <a:cs typeface="Anuphan SemiBold"/>
              </a:rPr>
              <a:t>The Shift &amp;</a:t>
            </a:r>
          </a:p>
          <a:p>
            <a:pPr algn="l" lvl="0">
              <a:lnSpc>
                <a:spcPct val="99600"/>
              </a:lnSpc>
            </a:pPr>
            <a:r>
              <a:rPr lang="en-US" sz="7598" b="false" i="false" u="none" strike="noStrike">
                <a:solidFill>
                  <a:srgbClr val="171717"/>
                </a:solidFill>
                <a:latin typeface="Anuphan SemiBold"/>
                <a:ea typeface="Anuphan SemiBold"/>
                <a:cs typeface="Anuphan SemiBold"/>
              </a:rPr>
              <a:t>The Problem</a:t>
            </a:r>
          </a:p>
        </p:txBody>
      </p:sp>
      <p:sp>
        <p:nvSpPr>
          <p:cNvPr name="TextBox 16" id="16"/>
          <p:cNvSpPr txBox="true"/>
          <p:nvPr/>
        </p:nvSpPr>
        <p:spPr>
          <a:xfrm rot="0">
            <a:off x="723900" y="5130800"/>
            <a:ext cx="6438900" cy="13081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The traditional way of managing employee onboarding via spreadsheets is fundamentally broken.</a:t>
            </a:r>
          </a:p>
        </p:txBody>
      </p:sp>
      <p:sp>
        <p:nvSpPr>
          <p:cNvPr name="TextBox 17" id="17"/>
          <p:cNvSpPr txBox="true"/>
          <p:nvPr/>
        </p:nvSpPr>
        <p:spPr>
          <a:xfrm rot="0">
            <a:off x="762000" y="7112000"/>
            <a:ext cx="6362700" cy="5207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Relying on outdated CRM workflows and manual data entry is actively slowing down your growth and burning out your top sales reps</a:t>
            </a:r>
          </a:p>
        </p:txBody>
      </p:sp>
      <p:sp>
        <p:nvSpPr>
          <p:cNvPr name="TextBox 18" id="18"/>
          <p:cNvSpPr txBox="true"/>
          <p:nvPr/>
        </p:nvSpPr>
        <p:spPr>
          <a:xfrm rot="0">
            <a:off x="9550400" y="3009900"/>
            <a:ext cx="3124200" cy="304800"/>
          </a:xfrm>
          <a:prstGeom prst="rect">
            <a:avLst/>
          </a:prstGeom>
        </p:spPr>
        <p:txBody>
          <a:bodyPr anchor="t" rtlCol="false" lIns="0" tIns="0" rIns="0" bIns="0"/>
          <a:lstStyle/>
          <a:p>
            <a:pPr algn="l" lvl="0">
              <a:lnSpc>
                <a:spcPct val="116199"/>
              </a:lnSpc>
            </a:pPr>
            <a:r>
              <a:rPr lang="en-US" sz="1597" b="false" i="false" u="none" strike="noStrike">
                <a:solidFill>
                  <a:srgbClr val="171717"/>
                </a:solidFill>
                <a:latin typeface="Hauora Bold"/>
                <a:ea typeface="Hauora Bold"/>
                <a:cs typeface="Hauora Bold"/>
              </a:rPr>
              <a:t>Time-inefficiency</a:t>
            </a:r>
          </a:p>
        </p:txBody>
      </p:sp>
      <p:sp>
        <p:nvSpPr>
          <p:cNvPr name="TextBox 19" id="19"/>
          <p:cNvSpPr txBox="true"/>
          <p:nvPr/>
        </p:nvSpPr>
        <p:spPr>
          <a:xfrm rot="0">
            <a:off x="9448800" y="5130800"/>
            <a:ext cx="3200400" cy="10160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Your team wastes [Number, e.g., 15+] hours per week on repetitive, manual tasks instead of focusing on high-impact strategic work.</a:t>
            </a:r>
          </a:p>
        </p:txBody>
      </p:sp>
      <p:sp>
        <p:nvSpPr>
          <p:cNvPr name="TextBox 20" id="20"/>
          <p:cNvSpPr txBox="true"/>
          <p:nvPr/>
        </p:nvSpPr>
        <p:spPr>
          <a:xfrm rot="0">
            <a:off x="9448800" y="7632700"/>
            <a:ext cx="2425700" cy="1803400"/>
          </a:xfrm>
          <a:prstGeom prst="rect">
            <a:avLst/>
          </a:prstGeom>
        </p:spPr>
        <p:txBody>
          <a:bodyPr anchor="t" rtlCol="false" lIns="0" tIns="126968" rIns="0" bIns="0"/>
          <a:lstStyle/>
          <a:p>
            <a:pPr algn="l" lvl="0">
              <a:lnSpc>
                <a:spcPct val="99600"/>
              </a:lnSpc>
            </a:pPr>
            <a:r>
              <a:rPr lang="en-US" sz="9997" b="false" i="false" u="none" strike="noStrike">
                <a:solidFill>
                  <a:srgbClr val="171717"/>
                </a:solidFill>
                <a:latin typeface="Anuphan SemiBold"/>
                <a:ea typeface="Anuphan SemiBold"/>
                <a:cs typeface="Anuphan SemiBold"/>
              </a:rPr>
              <a:t>01</a:t>
            </a:r>
          </a:p>
        </p:txBody>
      </p:sp>
      <p:sp>
        <p:nvSpPr>
          <p:cNvPr name="TextBox 21" id="21"/>
          <p:cNvSpPr txBox="true"/>
          <p:nvPr/>
        </p:nvSpPr>
        <p:spPr>
          <a:xfrm rot="0">
            <a:off x="9537700" y="3416300"/>
            <a:ext cx="3175000" cy="8763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Inefficient Workflows &amp; Time Drain</a:t>
            </a:r>
          </a:p>
        </p:txBody>
      </p:sp>
      <p:sp>
        <p:nvSpPr>
          <p:cNvPr name="TextBox 22" id="22"/>
          <p:cNvSpPr txBox="true"/>
          <p:nvPr/>
        </p:nvSpPr>
        <p:spPr>
          <a:xfrm rot="0">
            <a:off x="13652500" y="3022600"/>
            <a:ext cx="3124200" cy="304800"/>
          </a:xfrm>
          <a:prstGeom prst="rect">
            <a:avLst/>
          </a:prstGeom>
        </p:spPr>
        <p:txBody>
          <a:bodyPr anchor="t" rtlCol="false" lIns="0" tIns="0" rIns="0" bIns="0"/>
          <a:lstStyle/>
          <a:p>
            <a:pPr algn="l" lvl="0">
              <a:lnSpc>
                <a:spcPct val="116199"/>
              </a:lnSpc>
            </a:pPr>
            <a:r>
              <a:rPr lang="en-US" sz="1597" b="false" i="false" u="none" strike="noStrike">
                <a:solidFill>
                  <a:srgbClr val="FAF8F9"/>
                </a:solidFill>
                <a:latin typeface="Hauora Bold"/>
                <a:ea typeface="Hauora Bold"/>
                <a:cs typeface="Hauora Bold"/>
              </a:rPr>
              <a:t>Cost/Revenue Leakage</a:t>
            </a:r>
          </a:p>
        </p:txBody>
      </p:sp>
      <p:sp>
        <p:nvSpPr>
          <p:cNvPr name="TextBox 23" id="23"/>
          <p:cNvSpPr txBox="true"/>
          <p:nvPr/>
        </p:nvSpPr>
        <p:spPr>
          <a:xfrm rot="0">
            <a:off x="13817600" y="2222500"/>
            <a:ext cx="927100" cy="279400"/>
          </a:xfrm>
          <a:prstGeom prst="rect">
            <a:avLst/>
          </a:prstGeom>
        </p:spPr>
        <p:txBody>
          <a:bodyPr anchor="t" rtlCol="false" lIns="0" tIns="17830" rIns="0" bIns="0"/>
          <a:lstStyle/>
          <a:p>
            <a:pPr algn="l" lvl="0">
              <a:lnSpc>
                <a:spcPct val="99600"/>
              </a:lnSpc>
            </a:pPr>
            <a:r>
              <a:rPr lang="en-US" sz="1403" b="false" i="false" u="none" strike="noStrike">
                <a:solidFill>
                  <a:srgbClr val="FAF8F9"/>
                </a:solidFill>
                <a:latin typeface="Anuphan SemiBold"/>
                <a:ea typeface="Anuphan SemiBold"/>
                <a:cs typeface="Anuphan SemiBold"/>
              </a:rPr>
              <a:t>POINT 2</a:t>
            </a:r>
          </a:p>
        </p:txBody>
      </p:sp>
      <p:sp>
        <p:nvSpPr>
          <p:cNvPr name="TextBox 24" id="24"/>
          <p:cNvSpPr txBox="true"/>
          <p:nvPr/>
        </p:nvSpPr>
        <p:spPr>
          <a:xfrm rot="0">
            <a:off x="13500100" y="5143500"/>
            <a:ext cx="3314700" cy="10160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Hidden inefficiencies and redundant software subscriptions are eating into your profit margins by 20% annually.</a:t>
            </a:r>
          </a:p>
        </p:txBody>
      </p:sp>
      <p:sp>
        <p:nvSpPr>
          <p:cNvPr name="TextBox 25" id="25"/>
          <p:cNvSpPr txBox="true"/>
          <p:nvPr/>
        </p:nvSpPr>
        <p:spPr>
          <a:xfrm rot="0">
            <a:off x="13550900" y="7632700"/>
            <a:ext cx="2425700" cy="1803400"/>
          </a:xfrm>
          <a:prstGeom prst="rect">
            <a:avLst/>
          </a:prstGeom>
        </p:spPr>
        <p:txBody>
          <a:bodyPr anchor="t" rtlCol="false" lIns="0" tIns="126968" rIns="0" bIns="0"/>
          <a:lstStyle/>
          <a:p>
            <a:pPr algn="l" lvl="0">
              <a:lnSpc>
                <a:spcPct val="99600"/>
              </a:lnSpc>
            </a:pPr>
            <a:r>
              <a:rPr lang="en-US" sz="9997" b="false" i="false" u="none" strike="noStrike">
                <a:solidFill>
                  <a:srgbClr val="FAF8F9"/>
                </a:solidFill>
                <a:latin typeface="Anuphan SemiBold"/>
                <a:ea typeface="Anuphan SemiBold"/>
                <a:cs typeface="Anuphan SemiBold"/>
              </a:rPr>
              <a:t>02</a:t>
            </a:r>
          </a:p>
        </p:txBody>
      </p:sp>
      <p:sp>
        <p:nvSpPr>
          <p:cNvPr name="TextBox 26" id="26"/>
          <p:cNvSpPr txBox="true"/>
          <p:nvPr/>
        </p:nvSpPr>
        <p:spPr>
          <a:xfrm rot="0">
            <a:off x="13652500" y="3416300"/>
            <a:ext cx="3149600" cy="876300"/>
          </a:xfrm>
          <a:prstGeom prst="rect">
            <a:avLst/>
          </a:prstGeom>
        </p:spPr>
        <p:txBody>
          <a:bodyPr anchor="t" rtlCol="false" lIns="0" tIns="0" rIns="0" bIns="0"/>
          <a:lstStyle/>
          <a:p>
            <a:pPr algn="l" lvl="0">
              <a:lnSpc>
                <a:spcPct val="116199"/>
              </a:lnSpc>
            </a:pPr>
            <a:r>
              <a:rPr lang="en-US" sz="2400" b="false" i="false" u="none" strike="noStrike">
                <a:solidFill>
                  <a:srgbClr val="FAF8F9"/>
                </a:solidFill>
                <a:latin typeface="Hauora Regular"/>
                <a:ea typeface="Hauora Regular"/>
                <a:cs typeface="Hauora Regular"/>
              </a:rPr>
              <a:t>Escalating Operational Costs</a:t>
            </a:r>
          </a:p>
        </p:txBody>
      </p:sp>
      <p:sp>
        <p:nvSpPr>
          <p:cNvPr name="TextBox 27" id="27"/>
          <p:cNvSpPr txBox="true"/>
          <p:nvPr/>
        </p:nvSpPr>
        <p:spPr>
          <a:xfrm rot="0">
            <a:off x="9715500" y="2209800"/>
            <a:ext cx="927100" cy="279400"/>
          </a:xfrm>
          <a:prstGeom prst="rect">
            <a:avLst/>
          </a:prstGeom>
        </p:spPr>
        <p:txBody>
          <a:bodyPr anchor="t" rtlCol="false" lIns="0" tIns="17830" rIns="0" bIns="0"/>
          <a:lstStyle/>
          <a:p>
            <a:pPr algn="l" lvl="0">
              <a:lnSpc>
                <a:spcPct val="99600"/>
              </a:lnSpc>
            </a:pPr>
            <a:r>
              <a:rPr lang="en-US" sz="1403" b="false" i="false" u="none" strike="noStrike">
                <a:solidFill>
                  <a:srgbClr val="171717"/>
                </a:solidFill>
                <a:latin typeface="Anuphan SemiBold"/>
                <a:ea typeface="Anuphan SemiBold"/>
                <a:cs typeface="Anuphan SemiBold"/>
              </a:rPr>
              <a:t>POINT 1</a:t>
            </a:r>
          </a:p>
        </p:txBody>
      </p:sp>
    </p:spTree>
  </p:cSld>
  <p:clrMapOvr>
    <a:masterClrMapping/>
  </p:clrMapOvr>
</p:sld>
</file>

<file path=ppt/slides/slide3.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762000" y="4965700"/>
            <a:ext cx="3937000" cy="45593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5041900" y="4965700"/>
            <a:ext cx="3937000" cy="45593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9334500" y="4965700"/>
            <a:ext cx="3937000" cy="4559300"/>
          </a:xfrm>
          <a:prstGeom prst="rect">
            <a:avLst/>
          </a:prstGeom>
        </p:spPr>
      </p:pic>
      <p:pic>
        <p:nvPicPr>
          <p:cNvPr name="Picture 5" id="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a:off x="13627100" y="4965700"/>
            <a:ext cx="3937000" cy="4559300"/>
          </a:xfrm>
          <a:prstGeom prst="rect">
            <a:avLst/>
          </a:prstGeom>
        </p:spPr>
      </p:pic>
      <p:pic>
        <p:nvPicPr>
          <p:cNvPr name="Picture 6" id="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a:off x="1143000" y="8686800"/>
            <a:ext cx="3149600" cy="520700"/>
          </a:xfrm>
          <a:prstGeom prst="rect">
            <a:avLst/>
          </a:prstGeom>
        </p:spPr>
      </p:pic>
      <p:pic>
        <p:nvPicPr>
          <p:cNvPr name="Picture 7" id="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a:off x="3695700" y="8724900"/>
            <a:ext cx="444500" cy="444500"/>
          </a:xfrm>
          <a:prstGeom prst="rect">
            <a:avLst/>
          </a:prstGeom>
        </p:spPr>
      </p:pic>
      <p:pic>
        <p:nvPicPr>
          <p:cNvPr name="Picture 8" id="8"/>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a:off x="5435600" y="8686800"/>
            <a:ext cx="3149600" cy="520700"/>
          </a:xfrm>
          <a:prstGeom prst="rect">
            <a:avLst/>
          </a:prstGeom>
        </p:spPr>
      </p:pic>
      <p:pic>
        <p:nvPicPr>
          <p:cNvPr name="Picture 9" id="9"/>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a:off x="7975600" y="8724900"/>
            <a:ext cx="444500" cy="444500"/>
          </a:xfrm>
          <a:prstGeom prst="rect">
            <a:avLst/>
          </a:prstGeom>
        </p:spPr>
      </p:pic>
      <p:pic>
        <p:nvPicPr>
          <p:cNvPr name="Picture 10" id="10"/>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a:off x="9728200" y="8686800"/>
            <a:ext cx="3149600" cy="520700"/>
          </a:xfrm>
          <a:prstGeom prst="rect">
            <a:avLst/>
          </a:prstGeom>
        </p:spPr>
      </p:pic>
      <p:pic>
        <p:nvPicPr>
          <p:cNvPr name="Picture 11" id="11"/>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a:off x="12268200" y="8724900"/>
            <a:ext cx="444500" cy="444500"/>
          </a:xfrm>
          <a:prstGeom prst="rect">
            <a:avLst/>
          </a:prstGeom>
        </p:spPr>
      </p:pic>
      <p:pic>
        <p:nvPicPr>
          <p:cNvPr name="Picture 12" id="12"/>
          <p:cNvPicPr>
            <a:picLocks noChangeAspect="true"/>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a:off x="14008100" y="8648700"/>
            <a:ext cx="3149600" cy="520700"/>
          </a:xfrm>
          <a:prstGeom prst="rect">
            <a:avLst/>
          </a:prstGeom>
        </p:spPr>
      </p:pic>
      <p:pic>
        <p:nvPicPr>
          <p:cNvPr name="Picture 13" id="13"/>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a:off x="16560800" y="8686800"/>
            <a:ext cx="444500" cy="444500"/>
          </a:xfrm>
          <a:prstGeom prst="rect">
            <a:avLst/>
          </a:prstGeom>
        </p:spPr>
      </p:pic>
      <p:pic>
        <p:nvPicPr>
          <p:cNvPr name="Picture 14" id="14"/>
          <p:cNvPicPr>
            <a:picLocks noChangeAspect="true"/>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0">
            <a:off x="10401300" y="546100"/>
            <a:ext cx="7162800" cy="546100"/>
          </a:xfrm>
          <a:prstGeom prst="rect">
            <a:avLst/>
          </a:prstGeom>
        </p:spPr>
      </p:pic>
      <p:pic>
        <p:nvPicPr>
          <p:cNvPr name="Picture 15" id="15"/>
          <p:cNvPicPr>
            <a:picLocks noChangeAspect="true"/>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0">
            <a:off x="15608300" y="546100"/>
            <a:ext cx="1943100" cy="546100"/>
          </a:xfrm>
          <a:prstGeom prst="rect">
            <a:avLst/>
          </a:prstGeom>
        </p:spPr>
      </p:pic>
      <p:pic>
        <p:nvPicPr>
          <p:cNvPr name="Picture 16" id="16"/>
          <p:cNvPicPr>
            <a:picLocks noChangeAspect="true"/>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rot="0">
            <a:off x="17119600" y="673100"/>
            <a:ext cx="304800" cy="304800"/>
          </a:xfrm>
          <a:prstGeom prst="rect">
            <a:avLst/>
          </a:prstGeom>
        </p:spPr>
      </p:pic>
      <p:pic>
        <p:nvPicPr>
          <p:cNvPr name="Picture 17" id="17"/>
          <p:cNvPicPr>
            <a:picLocks noChangeAspect="true"/>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rot="0">
            <a:off x="762000" y="698500"/>
            <a:ext cx="495300" cy="279400"/>
          </a:xfrm>
          <a:prstGeom prst="rect">
            <a:avLst/>
          </a:prstGeom>
        </p:spPr>
      </p:pic>
      <p:sp>
        <p:nvSpPr>
          <p:cNvPr name="TextBox 18" id="18"/>
          <p:cNvSpPr txBox="true"/>
          <p:nvPr/>
        </p:nvSpPr>
        <p:spPr>
          <a:xfrm rot="0">
            <a:off x="1092200" y="6972300"/>
            <a:ext cx="3314700" cy="5207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The hidden annual cost of maintaining broken [HR workflows</a:t>
            </a:r>
          </a:p>
        </p:txBody>
      </p:sp>
      <p:sp>
        <p:nvSpPr>
          <p:cNvPr name="TextBox 19" id="19"/>
          <p:cNvSpPr txBox="true"/>
          <p:nvPr/>
        </p:nvSpPr>
        <p:spPr>
          <a:xfrm rot="0">
            <a:off x="1143000" y="5448300"/>
            <a:ext cx="3390900" cy="1168400"/>
          </a:xfrm>
          <a:prstGeom prst="rect">
            <a:avLst/>
          </a:prstGeom>
        </p:spPr>
        <p:txBody>
          <a:bodyPr anchor="t" rtlCol="false" lIns="0" tIns="81248" rIns="0" bIns="0"/>
          <a:lstStyle/>
          <a:p>
            <a:pPr algn="l" lvl="0">
              <a:lnSpc>
                <a:spcPct val="99600"/>
              </a:lnSpc>
            </a:pPr>
            <a:r>
              <a:rPr lang="en-US" sz="6397" b="false" i="false" u="none" strike="noStrike">
                <a:solidFill>
                  <a:srgbClr val="171717"/>
                </a:solidFill>
                <a:latin typeface="Anuphan SemiBold"/>
                <a:ea typeface="Anuphan SemiBold"/>
                <a:cs typeface="Anuphan SemiBold"/>
              </a:rPr>
              <a:t>$1.2M</a:t>
            </a:r>
          </a:p>
        </p:txBody>
      </p:sp>
      <p:sp>
        <p:nvSpPr>
          <p:cNvPr name="TextBox 20" id="20"/>
          <p:cNvSpPr txBox="true"/>
          <p:nvPr/>
        </p:nvSpPr>
        <p:spPr>
          <a:xfrm rot="0">
            <a:off x="5435600" y="5981700"/>
            <a:ext cx="3200400" cy="25019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Bleeding $50,000/mo on fragmented legacy software, maintenance fees, and the manual labor required to bridge them.</a:t>
            </a:r>
          </a:p>
        </p:txBody>
      </p:sp>
      <p:sp>
        <p:nvSpPr>
          <p:cNvPr name="TextBox 21" id="21"/>
          <p:cNvSpPr txBox="true"/>
          <p:nvPr/>
        </p:nvSpPr>
        <p:spPr>
          <a:xfrm rot="0">
            <a:off x="5435600" y="5448300"/>
            <a:ext cx="3390900" cy="1168400"/>
          </a:xfrm>
          <a:prstGeom prst="rect">
            <a:avLst/>
          </a:prstGeom>
        </p:spPr>
        <p:txBody>
          <a:bodyPr anchor="t" rtlCol="false" lIns="0" tIns="81248" rIns="0" bIns="0"/>
          <a:lstStyle/>
          <a:p>
            <a:pPr algn="l" lvl="0">
              <a:lnSpc>
                <a:spcPct val="99600"/>
              </a:lnSpc>
            </a:pPr>
            <a:r>
              <a:rPr lang="en-US" sz="6397" b="false" i="false" u="none" strike="noStrike">
                <a:solidFill>
                  <a:srgbClr val="FAF8F9"/>
                </a:solidFill>
                <a:latin typeface="Anuphan SemiBold"/>
                <a:ea typeface="Anuphan SemiBold"/>
                <a:cs typeface="Anuphan SemiBold"/>
              </a:rPr>
              <a:t>$50k</a:t>
            </a:r>
            <a:r>
              <a:rPr lang="en-US" sz="6397" b="false" i="false" u="none" strike="noStrike" baseline="-25000">
                <a:solidFill>
                  <a:srgbClr val="FAF8F9"/>
                </a:solidFill>
                <a:latin typeface="Anuphan SemiBold"/>
                <a:ea typeface="Anuphan SemiBold"/>
                <a:cs typeface="Anuphan SemiBold"/>
              </a:rPr>
              <a:t>/mo</a:t>
            </a:r>
          </a:p>
        </p:txBody>
      </p:sp>
      <p:sp>
        <p:nvSpPr>
          <p:cNvPr name="TextBox 22" id="22"/>
          <p:cNvSpPr txBox="true"/>
          <p:nvPr/>
        </p:nvSpPr>
        <p:spPr>
          <a:xfrm rot="0">
            <a:off x="9702800" y="6985000"/>
            <a:ext cx="3251200" cy="10160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Sacrificing 15 hours/week of your best employees' time on tedious manual entry, directly causing burnout and a 20% decrease in overall output.</a:t>
            </a:r>
          </a:p>
        </p:txBody>
      </p:sp>
      <p:sp>
        <p:nvSpPr>
          <p:cNvPr name="TextBox 23" id="23"/>
          <p:cNvSpPr txBox="true"/>
          <p:nvPr/>
        </p:nvSpPr>
        <p:spPr>
          <a:xfrm rot="0">
            <a:off x="9728200" y="5448300"/>
            <a:ext cx="3390900" cy="1168400"/>
          </a:xfrm>
          <a:prstGeom prst="rect">
            <a:avLst/>
          </a:prstGeom>
        </p:spPr>
        <p:txBody>
          <a:bodyPr anchor="t" rtlCol="false" lIns="0" tIns="81248" rIns="0" bIns="0"/>
          <a:lstStyle/>
          <a:p>
            <a:pPr algn="l" lvl="0">
              <a:lnSpc>
                <a:spcPct val="99600"/>
              </a:lnSpc>
            </a:pPr>
            <a:r>
              <a:rPr lang="en-US" sz="6397" b="false" i="false" u="none" strike="noStrike">
                <a:solidFill>
                  <a:srgbClr val="171717"/>
                </a:solidFill>
                <a:latin typeface="Anuphan SemiBold"/>
                <a:ea typeface="Anuphan SemiBold"/>
                <a:cs typeface="Anuphan SemiBold"/>
              </a:rPr>
              <a:t>15H</a:t>
            </a:r>
            <a:r>
              <a:rPr lang="en-US" sz="6397" b="false" i="false" u="none" strike="noStrike" baseline="-25000">
                <a:solidFill>
                  <a:srgbClr val="171717"/>
                </a:solidFill>
                <a:latin typeface="Anuphan SemiBold"/>
                <a:ea typeface="Anuphan SemiBold"/>
                <a:cs typeface="Anuphan SemiBold"/>
              </a:rPr>
              <a:t>/week</a:t>
            </a:r>
          </a:p>
        </p:txBody>
      </p:sp>
      <p:sp>
        <p:nvSpPr>
          <p:cNvPr name="TextBox 24" id="24"/>
          <p:cNvSpPr txBox="true"/>
          <p:nvPr/>
        </p:nvSpPr>
        <p:spPr>
          <a:xfrm rot="0">
            <a:off x="13995400" y="6972300"/>
            <a:ext cx="3238500" cy="7747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Postponing this decision costs you an estimated 5% in lost revenue potential every single quarter.</a:t>
            </a:r>
          </a:p>
        </p:txBody>
      </p:sp>
      <p:sp>
        <p:nvSpPr>
          <p:cNvPr name="TextBox 25" id="25"/>
          <p:cNvSpPr txBox="true"/>
          <p:nvPr/>
        </p:nvSpPr>
        <p:spPr>
          <a:xfrm rot="0">
            <a:off x="14008100" y="5448300"/>
            <a:ext cx="3390900" cy="1168400"/>
          </a:xfrm>
          <a:prstGeom prst="rect">
            <a:avLst/>
          </a:prstGeom>
        </p:spPr>
        <p:txBody>
          <a:bodyPr anchor="t" rtlCol="false" lIns="0" tIns="81248" rIns="0" bIns="0"/>
          <a:lstStyle/>
          <a:p>
            <a:pPr algn="l" lvl="0">
              <a:lnSpc>
                <a:spcPct val="99600"/>
              </a:lnSpc>
            </a:pPr>
            <a:r>
              <a:rPr lang="en-US" sz="6397" b="false" i="false" u="none" strike="noStrike">
                <a:solidFill>
                  <a:srgbClr val="171717"/>
                </a:solidFill>
                <a:latin typeface="Anuphan SemiBold"/>
                <a:ea typeface="Anuphan SemiBold"/>
                <a:cs typeface="Anuphan SemiBold"/>
              </a:rPr>
              <a:t>5%</a:t>
            </a:r>
          </a:p>
        </p:txBody>
      </p:sp>
      <p:sp>
        <p:nvSpPr>
          <p:cNvPr name="TextBox 26" id="26"/>
          <p:cNvSpPr txBox="true"/>
          <p:nvPr/>
        </p:nvSpPr>
        <p:spPr>
          <a:xfrm rot="0">
            <a:off x="5664200" y="8801100"/>
            <a:ext cx="2133600" cy="304800"/>
          </a:xfrm>
          <a:prstGeom prst="rect">
            <a:avLst/>
          </a:prstGeom>
        </p:spPr>
        <p:txBody>
          <a:bodyPr anchor="t" rtlCol="false" lIns="0" tIns="20370" rIns="0" bIns="0"/>
          <a:lstStyle/>
          <a:p>
            <a:pPr algn="l" lvl="0">
              <a:lnSpc>
                <a:spcPct val="99600"/>
              </a:lnSpc>
            </a:pPr>
            <a:r>
              <a:rPr lang="en-US" sz="1603" b="false" i="false" u="none" strike="noStrike">
                <a:solidFill>
                  <a:srgbClr val="FAF8F9"/>
                </a:solidFill>
                <a:latin typeface="Anuphan SemiBold"/>
                <a:ea typeface="Anuphan SemiBold"/>
                <a:cs typeface="Anuphan SemiBold"/>
              </a:rPr>
              <a:t>LOREM IPSUM</a:t>
            </a:r>
          </a:p>
        </p:txBody>
      </p:sp>
      <p:sp>
        <p:nvSpPr>
          <p:cNvPr name="TextBox 27" id="27"/>
          <p:cNvSpPr txBox="true"/>
          <p:nvPr/>
        </p:nvSpPr>
        <p:spPr>
          <a:xfrm rot="0">
            <a:off x="9728200" y="1943100"/>
            <a:ext cx="5511800" cy="8763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Doing Nothing is the Most Expensive Decision You Can Make.</a:t>
            </a:r>
          </a:p>
        </p:txBody>
      </p:sp>
      <p:sp>
        <p:nvSpPr>
          <p:cNvPr name="TextBox 28" id="28"/>
          <p:cNvSpPr txBox="true"/>
          <p:nvPr/>
        </p:nvSpPr>
        <p:spPr>
          <a:xfrm rot="0">
            <a:off x="9728200" y="3136900"/>
            <a:ext cx="7886700" cy="7747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Lorem ipsum dolor sit amet, consectetur adipiscing elit. Aenean eu orci non tellus vulputate posuere non id augue. Vivamus tempus purus quis lectus faucibus accumsan. Praesent ut</a:t>
            </a:r>
          </a:p>
          <a:p>
            <a:pPr algn="l" lvl="0">
              <a:lnSpc>
                <a:spcPct val="116199"/>
              </a:lnSpc>
            </a:pPr>
            <a:r>
              <a:rPr lang="en-US" sz="1400" b="false" i="false" u="none" strike="noStrike">
                <a:solidFill>
                  <a:srgbClr val="171717"/>
                </a:solidFill>
                <a:latin typeface="Hauora Regular"/>
                <a:ea typeface="Hauora Regular"/>
                <a:cs typeface="Hauora Regular"/>
              </a:rPr>
              <a:t>eros metus. Pellentesque nec enim at diam volutpat interdum. Donec in ex mauris.</a:t>
            </a:r>
          </a:p>
        </p:txBody>
      </p:sp>
      <p:sp>
        <p:nvSpPr>
          <p:cNvPr name="TextBox 29" id="29"/>
          <p:cNvSpPr txBox="true"/>
          <p:nvPr/>
        </p:nvSpPr>
        <p:spPr>
          <a:xfrm rot="0">
            <a:off x="9956800" y="8801100"/>
            <a:ext cx="2133600" cy="304800"/>
          </a:xfrm>
          <a:prstGeom prst="rect">
            <a:avLst/>
          </a:prstGeom>
        </p:spPr>
        <p:txBody>
          <a:bodyPr anchor="t" rtlCol="false" lIns="0" tIns="20370" rIns="0" bIns="0"/>
          <a:lstStyle/>
          <a:p>
            <a:pPr algn="l" lvl="0">
              <a:lnSpc>
                <a:spcPct val="99600"/>
              </a:lnSpc>
            </a:pPr>
            <a:r>
              <a:rPr lang="en-US" sz="1603" b="false" i="false" u="none" strike="noStrike">
                <a:solidFill>
                  <a:srgbClr val="171717"/>
                </a:solidFill>
                <a:latin typeface="Anuphan SemiBold"/>
                <a:ea typeface="Anuphan SemiBold"/>
                <a:cs typeface="Anuphan SemiBold"/>
              </a:rPr>
              <a:t>LOREM IPSUM</a:t>
            </a:r>
          </a:p>
        </p:txBody>
      </p:sp>
      <p:sp>
        <p:nvSpPr>
          <p:cNvPr name="TextBox 30" id="30"/>
          <p:cNvSpPr txBox="true"/>
          <p:nvPr/>
        </p:nvSpPr>
        <p:spPr>
          <a:xfrm rot="0">
            <a:off x="14236700" y="8763000"/>
            <a:ext cx="2133600" cy="304800"/>
          </a:xfrm>
          <a:prstGeom prst="rect">
            <a:avLst/>
          </a:prstGeom>
        </p:spPr>
        <p:txBody>
          <a:bodyPr anchor="t" rtlCol="false" lIns="0" tIns="20370" rIns="0" bIns="0"/>
          <a:lstStyle/>
          <a:p>
            <a:pPr algn="l" lvl="0">
              <a:lnSpc>
                <a:spcPct val="99600"/>
              </a:lnSpc>
            </a:pPr>
            <a:r>
              <a:rPr lang="en-US" sz="1603" b="false" i="false" u="none" strike="noStrike">
                <a:solidFill>
                  <a:srgbClr val="171717"/>
                </a:solidFill>
                <a:latin typeface="Anuphan SemiBold"/>
                <a:ea typeface="Anuphan SemiBold"/>
                <a:cs typeface="Anuphan SemiBold"/>
              </a:rPr>
              <a:t>LOREM IPSUM</a:t>
            </a:r>
          </a:p>
        </p:txBody>
      </p:sp>
      <p:sp>
        <p:nvSpPr>
          <p:cNvPr name="TextBox 31" id="31"/>
          <p:cNvSpPr txBox="true"/>
          <p:nvPr/>
        </p:nvSpPr>
        <p:spPr>
          <a:xfrm rot="0">
            <a:off x="1371600" y="8801100"/>
            <a:ext cx="2133600" cy="304800"/>
          </a:xfrm>
          <a:prstGeom prst="rect">
            <a:avLst/>
          </a:prstGeom>
        </p:spPr>
        <p:txBody>
          <a:bodyPr anchor="t" rtlCol="false" lIns="0" tIns="20370" rIns="0" bIns="0"/>
          <a:lstStyle/>
          <a:p>
            <a:pPr algn="l" lvl="0">
              <a:lnSpc>
                <a:spcPct val="99600"/>
              </a:lnSpc>
            </a:pPr>
            <a:r>
              <a:rPr lang="en-US" sz="1603" b="false" i="false" u="none" strike="noStrike">
                <a:solidFill>
                  <a:srgbClr val="171717"/>
                </a:solidFill>
                <a:latin typeface="Anuphan SemiBold"/>
                <a:ea typeface="Anuphan SemiBold"/>
                <a:cs typeface="Anuphan SemiBold"/>
              </a:rPr>
              <a:t>LOREM IPSUM</a:t>
            </a:r>
          </a:p>
        </p:txBody>
      </p:sp>
      <p:sp>
        <p:nvSpPr>
          <p:cNvPr name="TextBox 32" id="32"/>
          <p:cNvSpPr txBox="true"/>
          <p:nvPr/>
        </p:nvSpPr>
        <p:spPr>
          <a:xfrm rot="0">
            <a:off x="749300" y="1739900"/>
            <a:ext cx="8470900" cy="2540000"/>
          </a:xfrm>
          <a:prstGeom prst="rect">
            <a:avLst/>
          </a:prstGeom>
        </p:spPr>
        <p:txBody>
          <a:bodyPr anchor="t" rtlCol="false" lIns="0" tIns="96520" rIns="0" bIns="0"/>
          <a:lstStyle/>
          <a:p>
            <a:pPr algn="l" lvl="0">
              <a:lnSpc>
                <a:spcPct val="99600"/>
              </a:lnSpc>
            </a:pPr>
            <a:r>
              <a:rPr lang="en-US" sz="7598" b="false" i="false" u="none" strike="noStrike">
                <a:solidFill>
                  <a:srgbClr val="171717"/>
                </a:solidFill>
                <a:latin typeface="Anuphan SemiBold"/>
                <a:ea typeface="Anuphan SemiBold"/>
                <a:cs typeface="Anuphan SemiBold"/>
              </a:rPr>
              <a:t>The Cost</a:t>
            </a:r>
          </a:p>
          <a:p>
            <a:pPr algn="l" lvl="0">
              <a:lnSpc>
                <a:spcPct val="99600"/>
              </a:lnSpc>
            </a:pPr>
            <a:r>
              <a:rPr lang="en-US" sz="7598" b="false" i="false" u="none" strike="noStrike">
                <a:solidFill>
                  <a:srgbClr val="171717"/>
                </a:solidFill>
                <a:latin typeface="Anuphan SemiBold"/>
                <a:ea typeface="Anuphan SemiBold"/>
                <a:cs typeface="Anuphan SemiBold"/>
              </a:rPr>
              <a:t>of Inaction</a:t>
            </a:r>
          </a:p>
        </p:txBody>
      </p:sp>
      <p:sp>
        <p:nvSpPr>
          <p:cNvPr name="TextBox 33" id="33"/>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34" id="34"/>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35" id="35"/>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36" id="36"/>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37" id="37"/>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171717"/>
                </a:solidFill>
                <a:latin typeface="Hauora SemiBold"/>
                <a:ea typeface="Hauora SemiBold"/>
                <a:cs typeface="Hauora SemiBold"/>
              </a:rPr>
              <a:t>MIRI Company</a:t>
            </a:r>
          </a:p>
        </p:txBody>
      </p:sp>
    </p:spTree>
  </p:cSld>
  <p:clrMapOvr>
    <a:masterClrMapping/>
  </p:clrMapOvr>
</p:sld>
</file>

<file path=ppt/slides/slide4.xml><?xml version="1.0" encoding="utf-8"?>
<p:sld xmlns:p="http://schemas.openxmlformats.org/presentationml/2006/main" xmlns:a="http://schemas.openxmlformats.org/drawingml/2006/main">
  <p:cSld>
    <p:bg xmlns:r="http://schemas.openxmlformats.org/officeDocument/2006/relationships">
      <p:bgPr>
        <a:solidFill>
          <a:srgbClr val="000000"/>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2700" y="-12700"/>
            <a:ext cx="18313400" cy="10312400"/>
          </a:xfrm>
          <a:prstGeom prst="rect">
            <a:avLst/>
          </a:prstGeom>
        </p:spPr>
      </p:pic>
      <p:pic>
        <p:nvPicPr>
          <p:cNvPr name="Picture 3" id="3"/>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a:off x="762000" y="698500"/>
            <a:ext cx="495300" cy="279400"/>
          </a:xfrm>
          <a:prstGeom prst="rect">
            <a:avLst/>
          </a:prstGeom>
        </p:spPr>
      </p:pic>
      <p:pic>
        <p:nvPicPr>
          <p:cNvPr name="Picture 4" id="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a:off x="10401300" y="546100"/>
            <a:ext cx="7162800" cy="546100"/>
          </a:xfrm>
          <a:prstGeom prst="rect">
            <a:avLst/>
          </a:prstGeom>
        </p:spPr>
      </p:pic>
      <p:pic>
        <p:nvPicPr>
          <p:cNvPr name="Picture 5" id="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a:off x="15608300" y="546100"/>
            <a:ext cx="1943100" cy="546100"/>
          </a:xfrm>
          <a:prstGeom prst="rect">
            <a:avLst/>
          </a:prstGeom>
        </p:spPr>
      </p:pic>
      <p:pic>
        <p:nvPicPr>
          <p:cNvPr name="Picture 6" id="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a:off x="17119600" y="673100"/>
            <a:ext cx="304800" cy="304800"/>
          </a:xfrm>
          <a:prstGeom prst="rect">
            <a:avLst/>
          </a:prstGeom>
        </p:spPr>
      </p:pic>
      <p:pic>
        <p:nvPicPr>
          <p:cNvPr name="Picture 7" id="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a:off x="13627100" y="5130800"/>
            <a:ext cx="3937000" cy="4419600"/>
          </a:xfrm>
          <a:prstGeom prst="rect">
            <a:avLst/>
          </a:prstGeom>
        </p:spPr>
      </p:pic>
      <p:sp>
        <p:nvSpPr>
          <p:cNvPr name="TextBox 8" id="8"/>
          <p:cNvSpPr txBox="true"/>
          <p:nvPr/>
        </p:nvSpPr>
        <p:spPr>
          <a:xfrm rot="0">
            <a:off x="14008100" y="6261100"/>
            <a:ext cx="3200400" cy="774700"/>
          </a:xfrm>
          <a:prstGeom prst="rect">
            <a:avLst/>
          </a:prstGeom>
        </p:spPr>
        <p:txBody>
          <a:bodyPr anchor="t" rtlCol="false" lIns="0" tIns="0" rIns="0" bIns="0"/>
          <a:lstStyle/>
          <a:p>
            <a:pPr algn="l" lvl="1" marL="177800" indent="-177800">
              <a:lnSpc>
                <a:spcPct val="116199"/>
              </a:lnSpc>
              <a:buClr>
                <a:srgbClr val="000000"/>
              </a:buClr>
              <a:buFont typeface="Arial"/>
              <a:buChar char="●"/>
            </a:pPr>
            <a:r>
              <a:rPr lang="en-US" sz="1400" b="false" i="false" u="none" strike="noStrike">
                <a:solidFill>
                  <a:srgbClr val="171717"/>
                </a:solidFill>
                <a:latin typeface="Hauora Regular"/>
                <a:ea typeface="Hauora Regular"/>
                <a:cs typeface="Hauora Regular"/>
              </a:rPr>
              <a:t>Automate Follow-ups: Reclaim 15+ hours a week by putting CRM data entry on autopilot.</a:t>
            </a:r>
          </a:p>
        </p:txBody>
      </p:sp>
      <p:sp>
        <p:nvSpPr>
          <p:cNvPr name="TextBox 9" id="9"/>
          <p:cNvSpPr txBox="true"/>
          <p:nvPr/>
        </p:nvSpPr>
        <p:spPr>
          <a:xfrm rot="0">
            <a:off x="14008100" y="5499100"/>
            <a:ext cx="3149600" cy="4445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Main Benefits</a:t>
            </a:r>
          </a:p>
        </p:txBody>
      </p:sp>
      <p:sp>
        <p:nvSpPr>
          <p:cNvPr name="TextBox 10" id="10"/>
          <p:cNvSpPr txBox="true"/>
          <p:nvPr/>
        </p:nvSpPr>
        <p:spPr>
          <a:xfrm rot="0">
            <a:off x="14008100" y="7327900"/>
            <a:ext cx="3200400" cy="774700"/>
          </a:xfrm>
          <a:prstGeom prst="rect">
            <a:avLst/>
          </a:prstGeom>
        </p:spPr>
        <p:txBody>
          <a:bodyPr anchor="t" rtlCol="false" lIns="0" tIns="0" rIns="0" bIns="0"/>
          <a:lstStyle/>
          <a:p>
            <a:pPr algn="l" lvl="1" marL="177800" indent="-177800">
              <a:lnSpc>
                <a:spcPct val="116199"/>
              </a:lnSpc>
              <a:buClr>
                <a:srgbClr val="000000"/>
              </a:buClr>
              <a:buFont typeface="Arial"/>
              <a:buChar char="●"/>
            </a:pPr>
            <a:r>
              <a:rPr lang="en-US" sz="1400" b="false" i="false" u="none" strike="noStrike">
                <a:solidFill>
                  <a:srgbClr val="171717"/>
                </a:solidFill>
                <a:latin typeface="Hauora Regular"/>
                <a:ea typeface="Hauora Regular"/>
                <a:cs typeface="Hauora Regular"/>
              </a:rPr>
              <a:t>Unify Your Pipeline: Create a single source of truth for your entire revenue organization.</a:t>
            </a:r>
          </a:p>
        </p:txBody>
      </p:sp>
      <p:sp>
        <p:nvSpPr>
          <p:cNvPr name="TextBox 11" id="11"/>
          <p:cNvSpPr txBox="true"/>
          <p:nvPr/>
        </p:nvSpPr>
        <p:spPr>
          <a:xfrm rot="0">
            <a:off x="14008100" y="8407400"/>
            <a:ext cx="3200400" cy="774700"/>
          </a:xfrm>
          <a:prstGeom prst="rect">
            <a:avLst/>
          </a:prstGeom>
        </p:spPr>
        <p:txBody>
          <a:bodyPr anchor="t" rtlCol="false" lIns="0" tIns="0" rIns="0" bIns="0"/>
          <a:lstStyle/>
          <a:p>
            <a:pPr algn="l" lvl="1" marL="177800" indent="-177800">
              <a:lnSpc>
                <a:spcPct val="116199"/>
              </a:lnSpc>
              <a:buClr>
                <a:srgbClr val="000000"/>
              </a:buClr>
              <a:buFont typeface="Arial"/>
              <a:buChar char="●"/>
            </a:pPr>
            <a:r>
              <a:rPr lang="en-US" sz="1400" b="false" i="false" u="none" strike="noStrike">
                <a:solidFill>
                  <a:srgbClr val="171717"/>
                </a:solidFill>
                <a:latin typeface="Hauora Regular"/>
                <a:ea typeface="Hauora Regular"/>
                <a:cs typeface="Hauora Regular"/>
              </a:rPr>
              <a:t> Scale Win Rates: Built to grow seamlessly as your deal volume and sales team expand.</a:t>
            </a:r>
          </a:p>
        </p:txBody>
      </p:sp>
      <p:sp>
        <p:nvSpPr>
          <p:cNvPr name="TextBox 12" id="12"/>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13" id="13"/>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14" id="14"/>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15" id="15"/>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16" id="16"/>
          <p:cNvSpPr txBox="true"/>
          <p:nvPr/>
        </p:nvSpPr>
        <p:spPr>
          <a:xfrm rot="0">
            <a:off x="723900" y="5130800"/>
            <a:ext cx="4610100" cy="1739900"/>
          </a:xfrm>
          <a:prstGeom prst="rect">
            <a:avLst/>
          </a:prstGeom>
        </p:spPr>
        <p:txBody>
          <a:bodyPr anchor="t" rtlCol="false" lIns="0" tIns="0" rIns="0" bIns="0"/>
          <a:lstStyle/>
          <a:p>
            <a:pPr algn="l" lvl="0">
              <a:lnSpc>
                <a:spcPct val="116199"/>
              </a:lnSpc>
            </a:pPr>
            <a:r>
              <a:rPr lang="en-US" sz="2400" b="false" i="false" u="none" strike="noStrike">
                <a:solidFill>
                  <a:srgbClr val="FAF8F9"/>
                </a:solidFill>
                <a:latin typeface="Hauora Regular"/>
                <a:ea typeface="Hauora Regular"/>
                <a:cs typeface="Hauora Regular"/>
              </a:rPr>
              <a:t>Meet [RevenueFlow]: The all-in-one [pipeline management solution] for modern [sales leaders].</a:t>
            </a:r>
          </a:p>
        </p:txBody>
      </p:sp>
      <p:sp>
        <p:nvSpPr>
          <p:cNvPr name="TextBox 17" id="17"/>
          <p:cNvSpPr txBox="true"/>
          <p:nvPr/>
        </p:nvSpPr>
        <p:spPr>
          <a:xfrm rot="0">
            <a:off x="762000" y="7099300"/>
            <a:ext cx="4533900" cy="10160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Stop wrestling with blind spots and disconnected CRM data. We transform your fragmented pipeline into a predictable revenue engine with real-time visibility, instantly</a:t>
            </a:r>
          </a:p>
        </p:txBody>
      </p:sp>
      <p:sp>
        <p:nvSpPr>
          <p:cNvPr name="TextBox 18" id="18"/>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FAF8F9"/>
                </a:solidFill>
                <a:latin typeface="Hauora SemiBold"/>
                <a:ea typeface="Hauora SemiBold"/>
                <a:cs typeface="Hauora SemiBold"/>
              </a:rPr>
              <a:t>MIRI Company</a:t>
            </a:r>
          </a:p>
        </p:txBody>
      </p:sp>
      <p:sp>
        <p:nvSpPr>
          <p:cNvPr name="TextBox 19" id="19"/>
          <p:cNvSpPr txBox="true"/>
          <p:nvPr/>
        </p:nvSpPr>
        <p:spPr>
          <a:xfrm rot="0">
            <a:off x="762000" y="1739900"/>
            <a:ext cx="4762500" cy="2540000"/>
          </a:xfrm>
          <a:prstGeom prst="rect">
            <a:avLst/>
          </a:prstGeom>
        </p:spPr>
        <p:txBody>
          <a:bodyPr anchor="t" rtlCol="false" lIns="0" tIns="96520" rIns="0" bIns="0"/>
          <a:lstStyle/>
          <a:p>
            <a:pPr algn="l" lvl="0">
              <a:lnSpc>
                <a:spcPct val="99600"/>
              </a:lnSpc>
            </a:pPr>
            <a:r>
              <a:rPr lang="en-US" sz="7598" b="false" i="false" u="none" strike="noStrike">
                <a:solidFill>
                  <a:srgbClr val="FAF8F9"/>
                </a:solidFill>
                <a:latin typeface="Anuphan SemiBold"/>
                <a:ea typeface="Anuphan SemiBold"/>
                <a:cs typeface="Anuphan SemiBold"/>
              </a:rPr>
              <a:t>The</a:t>
            </a:r>
          </a:p>
          <a:p>
            <a:pPr algn="l" lvl="0">
              <a:lnSpc>
                <a:spcPct val="99600"/>
              </a:lnSpc>
            </a:pPr>
            <a:r>
              <a:rPr lang="en-US" sz="7598" b="false" i="false" u="none" strike="noStrike">
                <a:solidFill>
                  <a:srgbClr val="FAF8F9"/>
                </a:solidFill>
                <a:latin typeface="Anuphan SemiBold"/>
                <a:ea typeface="Anuphan SemiBold"/>
                <a:cs typeface="Anuphan SemiBold"/>
              </a:rPr>
              <a:t>Solution </a:t>
            </a:r>
          </a:p>
        </p:txBody>
      </p:sp>
    </p:spTree>
  </p:cSld>
  <p:clrMapOvr>
    <a:masterClrMapping/>
  </p:clrMapOvr>
</p:sld>
</file>

<file path=ppt/slides/slide5.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762000" y="698500"/>
            <a:ext cx="495300" cy="2794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10401300" y="546100"/>
            <a:ext cx="7162800" cy="5461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a:off x="15608300" y="546100"/>
            <a:ext cx="1943100" cy="546100"/>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a:off x="17119600" y="673100"/>
            <a:ext cx="304800" cy="304800"/>
          </a:xfrm>
          <a:prstGeom prst="rect">
            <a:avLst/>
          </a:prstGeom>
        </p:spPr>
      </p:pic>
      <p:pic>
        <p:nvPicPr>
          <p:cNvPr name="Picture 6" id="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a:off x="1803400" y="4318000"/>
            <a:ext cx="4102100" cy="5143500"/>
          </a:xfrm>
          <a:prstGeom prst="rect">
            <a:avLst/>
          </a:prstGeom>
        </p:spPr>
      </p:pic>
      <p:pic>
        <p:nvPicPr>
          <p:cNvPr name="Picture 7" id="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a:off x="2184400" y="4660900"/>
            <a:ext cx="698500" cy="698500"/>
          </a:xfrm>
          <a:prstGeom prst="rect">
            <a:avLst/>
          </a:prstGeom>
        </p:spPr>
      </p:pic>
      <p:pic>
        <p:nvPicPr>
          <p:cNvPr name="Picture 8" id="8"/>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2260600" y="4724400"/>
            <a:ext cx="558800" cy="558800"/>
          </a:xfrm>
          <a:prstGeom prst="rect">
            <a:avLst/>
          </a:prstGeom>
        </p:spPr>
      </p:pic>
      <p:pic>
        <p:nvPicPr>
          <p:cNvPr name="Picture 9" id="9"/>
          <p:cNvPicPr>
            <a:picLocks noChangeAspect="true"/>
          </p:cNvPicPr>
          <p:nvPr/>
        </p:nvPicPr>
        <p:blipFill>
          <a:blip r:embed="rId16">
            <a:alphaModFix amt="50000"/>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a:off x="2184400" y="8648700"/>
            <a:ext cx="2146300" cy="444500"/>
          </a:xfrm>
          <a:prstGeom prst="rect">
            <a:avLst/>
          </a:prstGeom>
        </p:spPr>
      </p:pic>
      <p:pic>
        <p:nvPicPr>
          <p:cNvPr name="Picture 10" id="10"/>
          <p:cNvPicPr>
            <a:picLocks noChangeAspect="true"/>
          </p:cNvPicPr>
          <p:nvPr/>
        </p:nvPicPr>
        <p:blipFill>
          <a:blip r:embed="rId18">
            <a:alphaModFix amt="50000"/>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a:off x="3822700" y="8674100"/>
            <a:ext cx="393700" cy="393700"/>
          </a:xfrm>
          <a:prstGeom prst="rect">
            <a:avLst/>
          </a:prstGeom>
        </p:spPr>
      </p:pic>
      <p:pic>
        <p:nvPicPr>
          <p:cNvPr name="Picture 11" id="11"/>
          <p:cNvPicPr>
            <a:picLocks noChangeAspect="true"/>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0">
            <a:off x="4495800" y="8648700"/>
            <a:ext cx="1003300" cy="444500"/>
          </a:xfrm>
          <a:prstGeom prst="rect">
            <a:avLst/>
          </a:prstGeom>
        </p:spPr>
      </p:pic>
      <p:pic>
        <p:nvPicPr>
          <p:cNvPr name="Picture 12" id="12"/>
          <p:cNvPicPr>
            <a:picLocks noChangeAspect="true"/>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0">
            <a:off x="7099300" y="4318000"/>
            <a:ext cx="4102100" cy="5143500"/>
          </a:xfrm>
          <a:prstGeom prst="rect">
            <a:avLst/>
          </a:prstGeom>
        </p:spPr>
      </p:pic>
      <p:pic>
        <p:nvPicPr>
          <p:cNvPr name="Picture 13" id="13"/>
          <p:cNvPicPr>
            <a:picLocks noChangeAspect="true"/>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0">
            <a:off x="7480300" y="4660900"/>
            <a:ext cx="698500" cy="698500"/>
          </a:xfrm>
          <a:prstGeom prst="rect">
            <a:avLst/>
          </a:prstGeom>
        </p:spPr>
      </p:pic>
      <p:pic>
        <p:nvPicPr>
          <p:cNvPr name="Picture 14" id="14"/>
          <p:cNvPicPr>
            <a:picLocks noChangeAspect="true"/>
          </p:cNvPicPr>
          <p:nvPr/>
        </p:nvPicPr>
        <p:blipFill>
          <a:blip r:embed="rId26">
            <a:alphaModFix amt="50000"/>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rot="0">
            <a:off x="7480300" y="8648700"/>
            <a:ext cx="2146300" cy="444500"/>
          </a:xfrm>
          <a:prstGeom prst="rect">
            <a:avLst/>
          </a:prstGeom>
        </p:spPr>
      </p:pic>
      <p:pic>
        <p:nvPicPr>
          <p:cNvPr name="Picture 15" id="15"/>
          <p:cNvPicPr>
            <a:picLocks noChangeAspect="true"/>
          </p:cNvPicPr>
          <p:nvPr/>
        </p:nvPicPr>
        <p:blipFill>
          <a:blip r:embed="rId28">
            <a:alphaModFix amt="50000"/>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rot="0">
            <a:off x="9118600" y="8674100"/>
            <a:ext cx="393700" cy="393700"/>
          </a:xfrm>
          <a:prstGeom prst="rect">
            <a:avLst/>
          </a:prstGeom>
        </p:spPr>
      </p:pic>
      <p:pic>
        <p:nvPicPr>
          <p:cNvPr name="Picture 16" id="16"/>
          <p:cNvPicPr>
            <a:picLocks noChangeAspect="true"/>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rot="0">
            <a:off x="9791700" y="8648700"/>
            <a:ext cx="1003300" cy="444500"/>
          </a:xfrm>
          <a:prstGeom prst="rect">
            <a:avLst/>
          </a:prstGeom>
        </p:spPr>
      </p:pic>
      <p:pic>
        <p:nvPicPr>
          <p:cNvPr name="Picture 17" id="17"/>
          <p:cNvPicPr>
            <a:picLocks noChangeAspect="true"/>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0">
            <a:off x="7556500" y="4737100"/>
            <a:ext cx="546100" cy="546100"/>
          </a:xfrm>
          <a:prstGeom prst="rect">
            <a:avLst/>
          </a:prstGeom>
        </p:spPr>
      </p:pic>
      <p:pic>
        <p:nvPicPr>
          <p:cNvPr name="Picture 18" id="18"/>
          <p:cNvPicPr>
            <a:picLocks noChangeAspect="true"/>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rot="0">
            <a:off x="12395200" y="4318000"/>
            <a:ext cx="4102100" cy="5143500"/>
          </a:xfrm>
          <a:prstGeom prst="rect">
            <a:avLst/>
          </a:prstGeom>
        </p:spPr>
      </p:pic>
      <p:pic>
        <p:nvPicPr>
          <p:cNvPr name="Picture 19" id="19"/>
          <p:cNvPicPr>
            <a:picLocks noChangeAspect="true"/>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rot="0">
            <a:off x="12788900" y="4660900"/>
            <a:ext cx="698500" cy="698500"/>
          </a:xfrm>
          <a:prstGeom prst="rect">
            <a:avLst/>
          </a:prstGeom>
        </p:spPr>
      </p:pic>
      <p:pic>
        <p:nvPicPr>
          <p:cNvPr name="Picture 20" id="20"/>
          <p:cNvPicPr>
            <a:picLocks noChangeAspect="true"/>
          </p:cNvPicPr>
          <p:nvPr/>
        </p:nvPicPr>
        <p:blipFill>
          <a:blip r:embed="rId38">
            <a:alphaModFix amt="50000"/>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rot="0">
            <a:off x="12788900" y="8648700"/>
            <a:ext cx="2146300" cy="444500"/>
          </a:xfrm>
          <a:prstGeom prst="rect">
            <a:avLst/>
          </a:prstGeom>
        </p:spPr>
      </p:pic>
      <p:pic>
        <p:nvPicPr>
          <p:cNvPr name="Picture 21" id="21"/>
          <p:cNvPicPr>
            <a:picLocks noChangeAspect="true"/>
          </p:cNvPicPr>
          <p:nvPr/>
        </p:nvPicPr>
        <p:blipFill>
          <a:blip r:embed="rId40">
            <a:alphaModFix amt="50000"/>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a:off x="14427200" y="8674100"/>
            <a:ext cx="393700" cy="393700"/>
          </a:xfrm>
          <a:prstGeom prst="rect">
            <a:avLst/>
          </a:prstGeom>
        </p:spPr>
      </p:pic>
      <p:pic>
        <p:nvPicPr>
          <p:cNvPr name="Picture 22" id="22"/>
          <p:cNvPicPr>
            <a:picLocks noChangeAspect="true"/>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0">
            <a:off x="15087600" y="8648700"/>
            <a:ext cx="1003300" cy="444500"/>
          </a:xfrm>
          <a:prstGeom prst="rect">
            <a:avLst/>
          </a:prstGeom>
        </p:spPr>
      </p:pic>
      <p:pic>
        <p:nvPicPr>
          <p:cNvPr name="Picture 23" id="23"/>
          <p:cNvPicPr>
            <a:picLocks noChangeAspect="true"/>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rot="0">
            <a:off x="12865100" y="4737100"/>
            <a:ext cx="546100" cy="546100"/>
          </a:xfrm>
          <a:prstGeom prst="rect">
            <a:avLst/>
          </a:prstGeom>
        </p:spPr>
      </p:pic>
      <p:pic>
        <p:nvPicPr>
          <p:cNvPr name="Picture 24" id="24"/>
          <p:cNvPicPr>
            <a:picLocks noChangeAspect="true"/>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rot="0">
            <a:off x="6007100" y="6870700"/>
            <a:ext cx="977900" cy="38100"/>
          </a:xfrm>
          <a:prstGeom prst="rect">
            <a:avLst/>
          </a:prstGeom>
        </p:spPr>
      </p:pic>
      <p:pic>
        <p:nvPicPr>
          <p:cNvPr name="Picture 25" id="25"/>
          <p:cNvPicPr>
            <a:picLocks noChangeAspect="true"/>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rot="0">
            <a:off x="11303000" y="6870700"/>
            <a:ext cx="977900" cy="38100"/>
          </a:xfrm>
          <a:prstGeom prst="rect">
            <a:avLst/>
          </a:prstGeom>
        </p:spPr>
      </p:pic>
      <p:sp>
        <p:nvSpPr>
          <p:cNvPr name="TextBox 26" id="26"/>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171717"/>
                </a:solidFill>
                <a:latin typeface="Hauora SemiBold"/>
                <a:ea typeface="Hauora SemiBold"/>
                <a:cs typeface="Hauora SemiBold"/>
              </a:rPr>
              <a:t>MIRI Company</a:t>
            </a:r>
          </a:p>
        </p:txBody>
      </p:sp>
      <p:sp>
        <p:nvSpPr>
          <p:cNvPr name="TextBox 27" id="27"/>
          <p:cNvSpPr txBox="true"/>
          <p:nvPr/>
        </p:nvSpPr>
        <p:spPr>
          <a:xfrm rot="0">
            <a:off x="4902200" y="1435100"/>
            <a:ext cx="8470900" cy="1371600"/>
          </a:xfrm>
          <a:prstGeom prst="rect">
            <a:avLst/>
          </a:prstGeom>
        </p:spPr>
        <p:txBody>
          <a:bodyPr anchor="t" rtlCol="false" lIns="0" tIns="96520" rIns="0" bIns="0"/>
          <a:lstStyle/>
          <a:p>
            <a:pPr algn="ctr" lvl="0">
              <a:lnSpc>
                <a:spcPct val="99600"/>
              </a:lnSpc>
            </a:pPr>
            <a:r>
              <a:rPr lang="en-US" sz="7598" b="false" i="false" u="none" strike="noStrike">
                <a:solidFill>
                  <a:srgbClr val="171717"/>
                </a:solidFill>
                <a:latin typeface="Anuphan SemiBold"/>
                <a:ea typeface="Anuphan SemiBold"/>
                <a:cs typeface="Anuphan SemiBold"/>
              </a:rPr>
              <a:t>How it Works</a:t>
            </a:r>
          </a:p>
        </p:txBody>
      </p:sp>
      <p:sp>
        <p:nvSpPr>
          <p:cNvPr name="TextBox 28" id="28"/>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29" id="29"/>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30" id="30"/>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31" id="31"/>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32" id="32"/>
          <p:cNvSpPr txBox="true"/>
          <p:nvPr/>
        </p:nvSpPr>
        <p:spPr>
          <a:xfrm rot="0">
            <a:off x="3416300" y="2832100"/>
            <a:ext cx="11468100" cy="444500"/>
          </a:xfrm>
          <a:prstGeom prst="rect">
            <a:avLst/>
          </a:prstGeom>
        </p:spPr>
        <p:txBody>
          <a:bodyPr anchor="t" rtlCol="false" lIns="0" tIns="0" rIns="0" bIns="0"/>
          <a:lstStyle/>
          <a:p>
            <a:pPr algn="ctr" lvl="0">
              <a:lnSpc>
                <a:spcPct val="116199"/>
              </a:lnSpc>
            </a:pPr>
            <a:r>
              <a:rPr lang="en-US" sz="2400" b="false" i="false" u="none" strike="noStrike">
                <a:solidFill>
                  <a:srgbClr val="171717"/>
                </a:solidFill>
                <a:latin typeface="Hauora Regular"/>
                <a:ea typeface="Hauora Regular"/>
                <a:cs typeface="Hauora Regular"/>
              </a:rPr>
              <a:t>From Manual Spreadsheets to Automated Workflows in 3 Simple Steps.</a:t>
            </a:r>
          </a:p>
        </p:txBody>
      </p:sp>
      <p:sp>
        <p:nvSpPr>
          <p:cNvPr name="TextBox 33" id="33"/>
          <p:cNvSpPr txBox="true"/>
          <p:nvPr/>
        </p:nvSpPr>
        <p:spPr>
          <a:xfrm rot="0">
            <a:off x="2184400" y="6743700"/>
            <a:ext cx="3352800" cy="7747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Sync your existing [CRM, Slack, and legacy data sources] in one click. Zero coding or IT resources required.</a:t>
            </a:r>
          </a:p>
        </p:txBody>
      </p:sp>
      <p:sp>
        <p:nvSpPr>
          <p:cNvPr name="TextBox 34" id="34"/>
          <p:cNvSpPr txBox="true"/>
          <p:nvPr/>
        </p:nvSpPr>
        <p:spPr>
          <a:xfrm rot="0">
            <a:off x="2184400" y="5537200"/>
            <a:ext cx="3162300" cy="8763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Plug-and-Play</a:t>
            </a:r>
          </a:p>
          <a:p>
            <a:pPr algn="l" lvl="0">
              <a:lnSpc>
                <a:spcPct val="116199"/>
              </a:lnSpc>
            </a:pPr>
            <a:r>
              <a:rPr lang="en-US" sz="2400" b="false" i="false" u="none" strike="noStrike">
                <a:solidFill>
                  <a:srgbClr val="171717"/>
                </a:solidFill>
                <a:latin typeface="Hauora Regular"/>
                <a:ea typeface="Hauora Regular"/>
                <a:cs typeface="Hauora Regular"/>
              </a:rPr>
              <a:t>Setup</a:t>
            </a:r>
          </a:p>
        </p:txBody>
      </p:sp>
      <p:sp>
        <p:nvSpPr>
          <p:cNvPr name="TextBox 35" id="35"/>
          <p:cNvSpPr txBox="true"/>
          <p:nvPr/>
        </p:nvSpPr>
        <p:spPr>
          <a:xfrm rot="0">
            <a:off x="2387600" y="8724900"/>
            <a:ext cx="1524000" cy="279400"/>
          </a:xfrm>
          <a:prstGeom prst="rect">
            <a:avLst/>
          </a:prstGeom>
        </p:spPr>
        <p:txBody>
          <a:bodyPr anchor="t" rtlCol="false" lIns="0" tIns="17812" rIns="0" bIns="0"/>
          <a:lstStyle/>
          <a:p>
            <a:pPr algn="l" lvl="0">
              <a:lnSpc>
                <a:spcPct val="99600"/>
              </a:lnSpc>
            </a:pPr>
            <a:r>
              <a:rPr lang="en-US" sz="1402" b="false" i="false" u="none" strike="noStrike">
                <a:solidFill>
                  <a:srgbClr val="171717">
                    <a:alpha val="50196"/>
                  </a:srgbClr>
                </a:solidFill>
                <a:latin typeface="Anuphan SemiBold"/>
                <a:ea typeface="Anuphan SemiBold"/>
                <a:cs typeface="Anuphan SemiBold"/>
              </a:rPr>
              <a:t>LOREM IPSUM</a:t>
            </a:r>
          </a:p>
        </p:txBody>
      </p:sp>
      <p:sp>
        <p:nvSpPr>
          <p:cNvPr name="TextBox 36" id="36"/>
          <p:cNvSpPr txBox="true"/>
          <p:nvPr/>
        </p:nvSpPr>
        <p:spPr>
          <a:xfrm rot="0">
            <a:off x="4610100" y="8724900"/>
            <a:ext cx="749300" cy="279400"/>
          </a:xfrm>
          <a:prstGeom prst="rect">
            <a:avLst/>
          </a:prstGeom>
        </p:spPr>
        <p:txBody>
          <a:bodyPr anchor="t" rtlCol="false" lIns="0" tIns="17812" rIns="0" bIns="0"/>
          <a:lstStyle/>
          <a:p>
            <a:pPr algn="ctr" lvl="0">
              <a:lnSpc>
                <a:spcPct val="99600"/>
              </a:lnSpc>
            </a:pPr>
            <a:r>
              <a:rPr lang="en-US" sz="1402" b="false" i="false" u="none" strike="noStrike">
                <a:solidFill>
                  <a:srgbClr val="171717"/>
                </a:solidFill>
                <a:latin typeface="Anuphan SemiBold"/>
                <a:ea typeface="Anuphan SemiBold"/>
                <a:cs typeface="Anuphan SemiBold"/>
              </a:rPr>
              <a:t>STEP 1</a:t>
            </a:r>
          </a:p>
        </p:txBody>
      </p:sp>
      <p:sp>
        <p:nvSpPr>
          <p:cNvPr name="TextBox 37" id="37"/>
          <p:cNvSpPr txBox="true"/>
          <p:nvPr/>
        </p:nvSpPr>
        <p:spPr>
          <a:xfrm rot="0">
            <a:off x="7493000" y="6743700"/>
            <a:ext cx="3352800" cy="12700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Our [dedicated team of experts] instantly categorizes your inputs, manages complex workflows,
and identifies hidden revenue opportunities.</a:t>
            </a:r>
          </a:p>
        </p:txBody>
      </p:sp>
      <p:sp>
        <p:nvSpPr>
          <p:cNvPr name="TextBox 38" id="38"/>
          <p:cNvSpPr txBox="true"/>
          <p:nvPr/>
        </p:nvSpPr>
        <p:spPr>
          <a:xfrm rot="0">
            <a:off x="7480300" y="5537200"/>
            <a:ext cx="3162300" cy="876300"/>
          </a:xfrm>
          <a:prstGeom prst="rect">
            <a:avLst/>
          </a:prstGeom>
        </p:spPr>
        <p:txBody>
          <a:bodyPr anchor="t" rtlCol="false" lIns="0" tIns="0" rIns="0" bIns="0"/>
          <a:lstStyle/>
          <a:p>
            <a:pPr algn="l" lvl="0">
              <a:lnSpc>
                <a:spcPct val="116199"/>
              </a:lnSpc>
            </a:pPr>
            <a:r>
              <a:rPr lang="en-US" sz="2400" b="false" i="false" u="none" strike="noStrike">
                <a:solidFill>
                  <a:srgbClr val="FAF8F9"/>
                </a:solidFill>
                <a:latin typeface="Hauora Regular"/>
                <a:ea typeface="Hauora Regular"/>
                <a:cs typeface="Hauora Regular"/>
              </a:rPr>
              <a:t>Process</a:t>
            </a:r>
          </a:p>
          <a:p>
            <a:pPr algn="l" lvl="0">
              <a:lnSpc>
                <a:spcPct val="116199"/>
              </a:lnSpc>
            </a:pPr>
            <a:r>
              <a:rPr lang="en-US" sz="2400" b="false" i="false" u="none" strike="noStrike">
                <a:solidFill>
                  <a:srgbClr val="FAF8F9"/>
                </a:solidFill>
                <a:latin typeface="Hauora Regular"/>
                <a:ea typeface="Hauora Regular"/>
                <a:cs typeface="Hauora Regular"/>
              </a:rPr>
              <a:t>&amp; Optimize</a:t>
            </a:r>
          </a:p>
        </p:txBody>
      </p:sp>
      <p:sp>
        <p:nvSpPr>
          <p:cNvPr name="TextBox 39" id="39"/>
          <p:cNvSpPr txBox="true"/>
          <p:nvPr/>
        </p:nvSpPr>
        <p:spPr>
          <a:xfrm rot="0">
            <a:off x="7683500" y="8724900"/>
            <a:ext cx="1524000" cy="279400"/>
          </a:xfrm>
          <a:prstGeom prst="rect">
            <a:avLst/>
          </a:prstGeom>
        </p:spPr>
        <p:txBody>
          <a:bodyPr anchor="t" rtlCol="false" lIns="0" tIns="17812" rIns="0" bIns="0"/>
          <a:lstStyle/>
          <a:p>
            <a:pPr algn="l" lvl="0">
              <a:lnSpc>
                <a:spcPct val="99600"/>
              </a:lnSpc>
            </a:pPr>
            <a:r>
              <a:rPr lang="en-US" sz="1402" b="false" i="false" u="none" strike="noStrike">
                <a:solidFill>
                  <a:srgbClr val="FAF8F9">
                    <a:alpha val="50196"/>
                  </a:srgbClr>
                </a:solidFill>
                <a:latin typeface="Anuphan SemiBold"/>
                <a:ea typeface="Anuphan SemiBold"/>
                <a:cs typeface="Anuphan SemiBold"/>
              </a:rPr>
              <a:t>LOREM IPSUM</a:t>
            </a:r>
          </a:p>
        </p:txBody>
      </p:sp>
      <p:sp>
        <p:nvSpPr>
          <p:cNvPr name="TextBox 40" id="40"/>
          <p:cNvSpPr txBox="true"/>
          <p:nvPr/>
        </p:nvSpPr>
        <p:spPr>
          <a:xfrm rot="0">
            <a:off x="9918700" y="8724900"/>
            <a:ext cx="749300" cy="279400"/>
          </a:xfrm>
          <a:prstGeom prst="rect">
            <a:avLst/>
          </a:prstGeom>
        </p:spPr>
        <p:txBody>
          <a:bodyPr anchor="t" rtlCol="false" lIns="0" tIns="17812" rIns="0" bIns="0"/>
          <a:lstStyle/>
          <a:p>
            <a:pPr algn="ctr" lvl="0">
              <a:lnSpc>
                <a:spcPct val="99600"/>
              </a:lnSpc>
            </a:pPr>
            <a:r>
              <a:rPr lang="en-US" sz="1402" b="false" i="false" u="none" strike="noStrike">
                <a:solidFill>
                  <a:srgbClr val="FAF8F9"/>
                </a:solidFill>
                <a:latin typeface="Anuphan SemiBold"/>
                <a:ea typeface="Anuphan SemiBold"/>
                <a:cs typeface="Anuphan SemiBold"/>
              </a:rPr>
              <a:t>STEP 2</a:t>
            </a:r>
          </a:p>
        </p:txBody>
      </p:sp>
      <p:sp>
        <p:nvSpPr>
          <p:cNvPr name="TextBox 41" id="41"/>
          <p:cNvSpPr txBox="true"/>
          <p:nvPr/>
        </p:nvSpPr>
        <p:spPr>
          <a:xfrm rot="0">
            <a:off x="12788900" y="6743700"/>
            <a:ext cx="3352800" cy="10160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Turn real-time dashboard insights into immediate action, and watch your [win rates and pipeline velocity] scale predictably.</a:t>
            </a:r>
          </a:p>
        </p:txBody>
      </p:sp>
      <p:sp>
        <p:nvSpPr>
          <p:cNvPr name="TextBox 42" id="42"/>
          <p:cNvSpPr txBox="true"/>
          <p:nvPr/>
        </p:nvSpPr>
        <p:spPr>
          <a:xfrm rot="0">
            <a:off x="12776200" y="5537200"/>
            <a:ext cx="3162300" cy="8763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Win</a:t>
            </a:r>
          </a:p>
          <a:p>
            <a:pPr algn="l" lvl="0">
              <a:lnSpc>
                <a:spcPct val="116199"/>
              </a:lnSpc>
            </a:pPr>
            <a:r>
              <a:rPr lang="en-US" sz="2400" b="false" i="false" u="none" strike="noStrike">
                <a:solidFill>
                  <a:srgbClr val="171717"/>
                </a:solidFill>
                <a:latin typeface="Hauora Regular"/>
                <a:ea typeface="Hauora Regular"/>
                <a:cs typeface="Hauora Regular"/>
              </a:rPr>
              <a:t>More Deals</a:t>
            </a:r>
          </a:p>
        </p:txBody>
      </p:sp>
      <p:sp>
        <p:nvSpPr>
          <p:cNvPr name="TextBox 43" id="43"/>
          <p:cNvSpPr txBox="true"/>
          <p:nvPr/>
        </p:nvSpPr>
        <p:spPr>
          <a:xfrm rot="0">
            <a:off x="12979400" y="8724900"/>
            <a:ext cx="1524000" cy="279400"/>
          </a:xfrm>
          <a:prstGeom prst="rect">
            <a:avLst/>
          </a:prstGeom>
        </p:spPr>
        <p:txBody>
          <a:bodyPr anchor="t" rtlCol="false" lIns="0" tIns="17812" rIns="0" bIns="0"/>
          <a:lstStyle/>
          <a:p>
            <a:pPr algn="l" lvl="0">
              <a:lnSpc>
                <a:spcPct val="99600"/>
              </a:lnSpc>
            </a:pPr>
            <a:r>
              <a:rPr lang="en-US" sz="1402" b="false" i="false" u="none" strike="noStrike">
                <a:solidFill>
                  <a:srgbClr val="171717">
                    <a:alpha val="50196"/>
                  </a:srgbClr>
                </a:solidFill>
                <a:latin typeface="Anuphan SemiBold"/>
                <a:ea typeface="Anuphan SemiBold"/>
                <a:cs typeface="Anuphan SemiBold"/>
              </a:rPr>
              <a:t>LOREM IPSUM</a:t>
            </a:r>
          </a:p>
        </p:txBody>
      </p:sp>
      <p:sp>
        <p:nvSpPr>
          <p:cNvPr name="TextBox 44" id="44"/>
          <p:cNvSpPr txBox="true"/>
          <p:nvPr/>
        </p:nvSpPr>
        <p:spPr>
          <a:xfrm rot="0">
            <a:off x="15214600" y="8724900"/>
            <a:ext cx="749300" cy="279400"/>
          </a:xfrm>
          <a:prstGeom prst="rect">
            <a:avLst/>
          </a:prstGeom>
        </p:spPr>
        <p:txBody>
          <a:bodyPr anchor="t" rtlCol="false" lIns="0" tIns="17812" rIns="0" bIns="0"/>
          <a:lstStyle/>
          <a:p>
            <a:pPr algn="ctr" lvl="0">
              <a:lnSpc>
                <a:spcPct val="99600"/>
              </a:lnSpc>
            </a:pPr>
            <a:r>
              <a:rPr lang="en-US" sz="1402" b="false" i="false" u="none" strike="noStrike">
                <a:solidFill>
                  <a:srgbClr val="171717"/>
                </a:solidFill>
                <a:latin typeface="Anuphan SemiBold"/>
                <a:ea typeface="Anuphan SemiBold"/>
                <a:cs typeface="Anuphan SemiBold"/>
              </a:rPr>
              <a:t>STEP 3</a:t>
            </a:r>
          </a:p>
        </p:txBody>
      </p:sp>
    </p:spTree>
  </p:cSld>
  <p:clrMapOvr>
    <a:masterClrMapping/>
  </p:clrMapOvr>
</p:sld>
</file>

<file path=ppt/slides/slide6.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9550400" y="1892300"/>
            <a:ext cx="8001000" cy="24257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762000" y="698500"/>
            <a:ext cx="495300" cy="2794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a:off x="10401300" y="546100"/>
            <a:ext cx="7162800" cy="546100"/>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a:off x="15608300" y="546100"/>
            <a:ext cx="1943100" cy="546100"/>
          </a:xfrm>
          <a:prstGeom prst="rect">
            <a:avLst/>
          </a:prstGeom>
        </p:spPr>
      </p:pic>
      <p:pic>
        <p:nvPicPr>
          <p:cNvPr name="Picture 6" id="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a:off x="17119600" y="673100"/>
            <a:ext cx="304800" cy="304800"/>
          </a:xfrm>
          <a:prstGeom prst="rect">
            <a:avLst/>
          </a:prstGeom>
        </p:spPr>
      </p:pic>
      <p:pic>
        <p:nvPicPr>
          <p:cNvPr name="Picture 7" id="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a:off x="9550400" y="4572000"/>
            <a:ext cx="8001000" cy="2425700"/>
          </a:xfrm>
          <a:prstGeom prst="rect">
            <a:avLst/>
          </a:prstGeom>
        </p:spPr>
      </p:pic>
      <p:pic>
        <p:nvPicPr>
          <p:cNvPr name="Picture 8" id="8"/>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9550400" y="7264400"/>
            <a:ext cx="8001000" cy="2425700"/>
          </a:xfrm>
          <a:prstGeom prst="rect">
            <a:avLst/>
          </a:prstGeom>
        </p:spPr>
      </p:pic>
      <p:pic>
        <p:nvPicPr>
          <p:cNvPr name="Picture 9" id="9"/>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a:off x="9969500" y="7531100"/>
            <a:ext cx="698500" cy="698500"/>
          </a:xfrm>
          <a:prstGeom prst="rect">
            <a:avLst/>
          </a:prstGeom>
        </p:spPr>
      </p:pic>
      <p:pic>
        <p:nvPicPr>
          <p:cNvPr name="Picture 10" id="10"/>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a:off x="9969500" y="4851400"/>
            <a:ext cx="698500" cy="698500"/>
          </a:xfrm>
          <a:prstGeom prst="rect">
            <a:avLst/>
          </a:prstGeom>
        </p:spPr>
      </p:pic>
      <p:pic>
        <p:nvPicPr>
          <p:cNvPr name="Picture 11" id="11"/>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a:off x="10007600" y="4889500"/>
            <a:ext cx="622300" cy="622300"/>
          </a:xfrm>
          <a:prstGeom prst="rect">
            <a:avLst/>
          </a:prstGeom>
        </p:spPr>
      </p:pic>
      <p:pic>
        <p:nvPicPr>
          <p:cNvPr name="Picture 12" id="12"/>
          <p:cNvPicPr>
            <a:picLocks noChangeAspect="true"/>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0">
            <a:off x="10007600" y="7569200"/>
            <a:ext cx="609600" cy="609600"/>
          </a:xfrm>
          <a:prstGeom prst="rect">
            <a:avLst/>
          </a:prstGeom>
        </p:spPr>
      </p:pic>
      <p:pic>
        <p:nvPicPr>
          <p:cNvPr name="Picture 13" id="13"/>
          <p:cNvPicPr>
            <a:picLocks noChangeAspect="true"/>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0">
            <a:off x="9969500" y="2159000"/>
            <a:ext cx="698500" cy="698500"/>
          </a:xfrm>
          <a:prstGeom prst="rect">
            <a:avLst/>
          </a:prstGeom>
        </p:spPr>
      </p:pic>
      <p:pic>
        <p:nvPicPr>
          <p:cNvPr name="Picture 14" id="14"/>
          <p:cNvPicPr>
            <a:picLocks noChangeAspect="true"/>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0">
            <a:off x="10007600" y="2197100"/>
            <a:ext cx="609600" cy="609600"/>
          </a:xfrm>
          <a:prstGeom prst="rect">
            <a:avLst/>
          </a:prstGeom>
        </p:spPr>
      </p:pic>
      <p:sp>
        <p:nvSpPr>
          <p:cNvPr name="TextBox 15" id="15"/>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171717"/>
                </a:solidFill>
                <a:latin typeface="Hauora SemiBold"/>
                <a:ea typeface="Hauora SemiBold"/>
                <a:cs typeface="Hauora SemiBold"/>
              </a:rPr>
              <a:t>MIRI Company</a:t>
            </a:r>
          </a:p>
        </p:txBody>
      </p:sp>
      <p:sp>
        <p:nvSpPr>
          <p:cNvPr name="TextBox 16" id="16"/>
          <p:cNvSpPr txBox="true"/>
          <p:nvPr/>
        </p:nvSpPr>
        <p:spPr>
          <a:xfrm rot="0">
            <a:off x="762000" y="1739900"/>
            <a:ext cx="6743700" cy="2540000"/>
          </a:xfrm>
          <a:prstGeom prst="rect">
            <a:avLst/>
          </a:prstGeom>
        </p:spPr>
        <p:txBody>
          <a:bodyPr anchor="t" rtlCol="false" lIns="0" tIns="96520" rIns="0" bIns="0"/>
          <a:lstStyle/>
          <a:p>
            <a:pPr algn="l" lvl="0">
              <a:lnSpc>
                <a:spcPct val="99600"/>
              </a:lnSpc>
            </a:pPr>
            <a:r>
              <a:rPr lang="en-US" sz="7598" b="false" i="false" u="none" strike="noStrike">
                <a:solidFill>
                  <a:srgbClr val="171717"/>
                </a:solidFill>
                <a:latin typeface="Anuphan SemiBold"/>
                <a:ea typeface="Anuphan SemiBold"/>
                <a:cs typeface="Anuphan SemiBold"/>
              </a:rPr>
              <a:t>Key Features</a:t>
            </a:r>
          </a:p>
          <a:p>
            <a:pPr algn="l" lvl="0">
              <a:lnSpc>
                <a:spcPct val="99600"/>
              </a:lnSpc>
            </a:pPr>
            <a:r>
              <a:rPr lang="en-US" sz="7598" b="false" i="false" u="none" strike="noStrike">
                <a:solidFill>
                  <a:srgbClr val="171717"/>
                </a:solidFill>
                <a:latin typeface="Anuphan SemiBold"/>
                <a:ea typeface="Anuphan SemiBold"/>
                <a:cs typeface="Anuphan SemiBold"/>
              </a:rPr>
              <a:t>&amp; Benefits</a:t>
            </a:r>
          </a:p>
        </p:txBody>
      </p:sp>
      <p:sp>
        <p:nvSpPr>
          <p:cNvPr name="TextBox 17" id="17"/>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18" id="18"/>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19" id="19"/>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20" id="20"/>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21" id="21"/>
          <p:cNvSpPr txBox="true"/>
          <p:nvPr/>
        </p:nvSpPr>
        <p:spPr>
          <a:xfrm rot="0">
            <a:off x="723900" y="5130800"/>
            <a:ext cx="5930900" cy="8763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Everything you need to automate</a:t>
            </a:r>
          </a:p>
          <a:p>
            <a:pPr algn="l" lvl="0">
              <a:lnSpc>
                <a:spcPct val="116199"/>
              </a:lnSpc>
            </a:pPr>
            <a:r>
              <a:rPr lang="en-US" sz="2400" b="false" i="false" u="none" strike="noStrike">
                <a:solidFill>
                  <a:srgbClr val="171717"/>
                </a:solidFill>
                <a:latin typeface="Hauora Regular"/>
                <a:ea typeface="Hauora Regular"/>
                <a:cs typeface="Hauora Regular"/>
              </a:rPr>
              <a:t>your core HR workflows, built right in.</a:t>
            </a:r>
          </a:p>
        </p:txBody>
      </p:sp>
      <p:sp>
        <p:nvSpPr>
          <p:cNvPr name="TextBox 22" id="22"/>
          <p:cNvSpPr txBox="true"/>
          <p:nvPr/>
        </p:nvSpPr>
        <p:spPr>
          <a:xfrm rot="0">
            <a:off x="698500" y="7099300"/>
            <a:ext cx="5969000" cy="10160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Lorem ipsum dolor sit amet, consectetur adipiscing elit. Aenean eu orci non tellus vulputate posuere non id augue. Vivamus tempus purus quis lectus faucibus accumsan. Praesent ut eros metus. Pellentesque nec enim at diam volutpat interdum. Donec in ex mauris.</a:t>
            </a:r>
          </a:p>
        </p:txBody>
      </p:sp>
      <p:sp>
        <p:nvSpPr>
          <p:cNvPr name="TextBox 23" id="23"/>
          <p:cNvSpPr txBox="true"/>
          <p:nvPr/>
        </p:nvSpPr>
        <p:spPr>
          <a:xfrm rot="0">
            <a:off x="9969500" y="8572500"/>
            <a:ext cx="7289800" cy="7747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Built with bank-level encryption and HIPAA/GDPR compliance, alongside seamless API integrations. Rest easy knowing your sensitive data is protected at every layer, no matter how fast your transaction volume expands.</a:t>
            </a:r>
          </a:p>
        </p:txBody>
      </p:sp>
      <p:sp>
        <p:nvSpPr>
          <p:cNvPr name="TextBox 24" id="24"/>
          <p:cNvSpPr txBox="true"/>
          <p:nvPr/>
        </p:nvSpPr>
        <p:spPr>
          <a:xfrm rot="0">
            <a:off x="10871200" y="7556500"/>
            <a:ext cx="3911600" cy="279400"/>
          </a:xfrm>
          <a:prstGeom prst="rect">
            <a:avLst/>
          </a:prstGeom>
        </p:spPr>
        <p:txBody>
          <a:bodyPr anchor="t" rtlCol="false" lIns="0" tIns="0" rIns="0" bIns="0"/>
          <a:lstStyle/>
          <a:p>
            <a:pPr algn="l" lvl="0">
              <a:lnSpc>
                <a:spcPct val="116199"/>
              </a:lnSpc>
            </a:pPr>
            <a:r>
              <a:rPr lang="en-US" sz="1402" b="false" i="false" u="none" strike="noStrike">
                <a:solidFill>
                  <a:srgbClr val="171717"/>
                </a:solidFill>
                <a:latin typeface="Hauora Regular"/>
                <a:ea typeface="Hauora Regular"/>
                <a:cs typeface="Hauora Regular"/>
              </a:rPr>
              <a:t>Feature 3</a:t>
            </a:r>
          </a:p>
        </p:txBody>
      </p:sp>
      <p:sp>
        <p:nvSpPr>
          <p:cNvPr name="TextBox 25" id="25"/>
          <p:cNvSpPr txBox="true"/>
          <p:nvPr/>
        </p:nvSpPr>
        <p:spPr>
          <a:xfrm rot="0">
            <a:off x="10858500" y="7810500"/>
            <a:ext cx="4826000" cy="444500"/>
          </a:xfrm>
          <a:prstGeom prst="rect">
            <a:avLst/>
          </a:prstGeom>
        </p:spPr>
        <p:txBody>
          <a:bodyPr anchor="t" rtlCol="false" lIns="0" tIns="0" rIns="0" bIns="0"/>
          <a:lstStyle/>
          <a:p>
            <a:pPr algn="l" lvl="0">
              <a:lnSpc>
                <a:spcPct val="116199"/>
              </a:lnSpc>
            </a:pPr>
            <a:r>
              <a:rPr lang="en-US" sz="2397" b="false" i="false" u="none" strike="noStrike">
                <a:solidFill>
                  <a:srgbClr val="171717"/>
                </a:solidFill>
                <a:latin typeface="Hauora Regular"/>
                <a:ea typeface="Hauora Regular"/>
                <a:cs typeface="Hauora Regular"/>
              </a:rPr>
              <a:t>Enterprise-Grade Security</a:t>
            </a:r>
          </a:p>
        </p:txBody>
      </p:sp>
      <p:sp>
        <p:nvSpPr>
          <p:cNvPr name="TextBox 26" id="26"/>
          <p:cNvSpPr txBox="true"/>
          <p:nvPr/>
        </p:nvSpPr>
        <p:spPr>
          <a:xfrm rot="0">
            <a:off x="9931400" y="5880100"/>
            <a:ext cx="7378700" cy="7747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Never guess your numbers again. Get instant visibility into your entire operational spend. Our customizable dashboards turn fragmented financial data into a single source of truth, empowering CFOs to make confident decisions faster.</a:t>
            </a:r>
          </a:p>
        </p:txBody>
      </p:sp>
      <p:sp>
        <p:nvSpPr>
          <p:cNvPr name="TextBox 27" id="27"/>
          <p:cNvSpPr txBox="true"/>
          <p:nvPr/>
        </p:nvSpPr>
        <p:spPr>
          <a:xfrm rot="0">
            <a:off x="10871200" y="4864100"/>
            <a:ext cx="3911600" cy="279400"/>
          </a:xfrm>
          <a:prstGeom prst="rect">
            <a:avLst/>
          </a:prstGeom>
        </p:spPr>
        <p:txBody>
          <a:bodyPr anchor="t" rtlCol="false" lIns="0" tIns="0" rIns="0" bIns="0"/>
          <a:lstStyle/>
          <a:p>
            <a:pPr algn="l" lvl="0">
              <a:lnSpc>
                <a:spcPct val="116199"/>
              </a:lnSpc>
            </a:pPr>
            <a:r>
              <a:rPr lang="en-US" sz="1402" b="false" i="false" u="none" strike="noStrike">
                <a:solidFill>
                  <a:srgbClr val="171717"/>
                </a:solidFill>
                <a:latin typeface="Hauora Regular"/>
                <a:ea typeface="Hauora Regular"/>
                <a:cs typeface="Hauora Regular"/>
              </a:rPr>
              <a:t>Feature 2</a:t>
            </a:r>
          </a:p>
        </p:txBody>
      </p:sp>
      <p:sp>
        <p:nvSpPr>
          <p:cNvPr name="TextBox 28" id="28"/>
          <p:cNvSpPr txBox="true"/>
          <p:nvPr/>
        </p:nvSpPr>
        <p:spPr>
          <a:xfrm rot="0">
            <a:off x="10858500" y="5118100"/>
            <a:ext cx="4826000" cy="444500"/>
          </a:xfrm>
          <a:prstGeom prst="rect">
            <a:avLst/>
          </a:prstGeom>
        </p:spPr>
        <p:txBody>
          <a:bodyPr anchor="t" rtlCol="false" lIns="0" tIns="0" rIns="0" bIns="0"/>
          <a:lstStyle/>
          <a:p>
            <a:pPr algn="l" lvl="0">
              <a:lnSpc>
                <a:spcPct val="116199"/>
              </a:lnSpc>
            </a:pPr>
            <a:r>
              <a:rPr lang="en-US" sz="2397" b="false" i="false" u="none" strike="noStrike">
                <a:solidFill>
                  <a:srgbClr val="171717"/>
                </a:solidFill>
                <a:latin typeface="Hauora Regular"/>
                <a:ea typeface="Hauora Regular"/>
                <a:cs typeface="Hauora Regular"/>
              </a:rPr>
              <a:t>Real-Time Analytics</a:t>
            </a:r>
          </a:p>
        </p:txBody>
      </p:sp>
      <p:sp>
        <p:nvSpPr>
          <p:cNvPr name="TextBox 29" id="29"/>
          <p:cNvSpPr txBox="true"/>
          <p:nvPr/>
        </p:nvSpPr>
        <p:spPr>
          <a:xfrm rot="0">
            <a:off x="9969500" y="3200400"/>
            <a:ext cx="7289800" cy="7747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Reclaim 15+ hours a week. Set routine administrative tasks on autopilot. We handle the manual onboarding steps and document routing so your HR team can focus on high-impact employee engagement.</a:t>
            </a:r>
          </a:p>
        </p:txBody>
      </p:sp>
      <p:sp>
        <p:nvSpPr>
          <p:cNvPr name="TextBox 30" id="30"/>
          <p:cNvSpPr txBox="true"/>
          <p:nvPr/>
        </p:nvSpPr>
        <p:spPr>
          <a:xfrm rot="0">
            <a:off x="10871200" y="2184400"/>
            <a:ext cx="3911600" cy="279400"/>
          </a:xfrm>
          <a:prstGeom prst="rect">
            <a:avLst/>
          </a:prstGeom>
        </p:spPr>
        <p:txBody>
          <a:bodyPr anchor="t" rtlCol="false" lIns="0" tIns="0" rIns="0" bIns="0"/>
          <a:lstStyle/>
          <a:p>
            <a:pPr algn="l" lvl="0">
              <a:lnSpc>
                <a:spcPct val="116199"/>
              </a:lnSpc>
            </a:pPr>
            <a:r>
              <a:rPr lang="en-US" sz="1402" b="false" i="false" u="none" strike="noStrike">
                <a:solidFill>
                  <a:srgbClr val="FAF8F9"/>
                </a:solidFill>
                <a:latin typeface="Hauora Regular"/>
                <a:ea typeface="Hauora Regular"/>
                <a:cs typeface="Hauora Regular"/>
              </a:rPr>
              <a:t>Feature 1</a:t>
            </a:r>
          </a:p>
        </p:txBody>
      </p:sp>
      <p:sp>
        <p:nvSpPr>
          <p:cNvPr name="TextBox 31" id="31"/>
          <p:cNvSpPr txBox="true"/>
          <p:nvPr/>
        </p:nvSpPr>
        <p:spPr>
          <a:xfrm rot="0">
            <a:off x="10858500" y="2438400"/>
            <a:ext cx="4826000" cy="444500"/>
          </a:xfrm>
          <a:prstGeom prst="rect">
            <a:avLst/>
          </a:prstGeom>
        </p:spPr>
        <p:txBody>
          <a:bodyPr anchor="t" rtlCol="false" lIns="0" tIns="0" rIns="0" bIns="0"/>
          <a:lstStyle/>
          <a:p>
            <a:pPr algn="l" lvl="0">
              <a:lnSpc>
                <a:spcPct val="116199"/>
              </a:lnSpc>
            </a:pPr>
            <a:r>
              <a:rPr lang="en-US" sz="2397" b="false" i="false" u="none" strike="noStrike">
                <a:solidFill>
                  <a:srgbClr val="FAF8F9"/>
                </a:solidFill>
                <a:latin typeface="Hauora Regular"/>
                <a:ea typeface="Hauora Regular"/>
                <a:cs typeface="Hauora Regular"/>
              </a:rPr>
              <a:t>Automated Workflows</a:t>
            </a:r>
          </a:p>
        </p:txBody>
      </p:sp>
    </p:spTree>
  </p:cSld>
  <p:clrMapOvr>
    <a:masterClrMapping/>
  </p:clrMapOvr>
</p:sld>
</file>

<file path=ppt/slides/slide7.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762000" y="698500"/>
            <a:ext cx="495300" cy="2794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9410700" y="1905000"/>
            <a:ext cx="3937000" cy="43688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a:off x="10401300" y="546100"/>
            <a:ext cx="7162800" cy="546100"/>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a:off x="15608300" y="546100"/>
            <a:ext cx="1943100" cy="546100"/>
          </a:xfrm>
          <a:prstGeom prst="rect">
            <a:avLst/>
          </a:prstGeom>
        </p:spPr>
      </p:pic>
      <p:pic>
        <p:nvPicPr>
          <p:cNvPr name="Picture 6" id="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a:off x="17119600" y="673100"/>
            <a:ext cx="304800" cy="304800"/>
          </a:xfrm>
          <a:prstGeom prst="rect">
            <a:avLst/>
          </a:prstGeom>
        </p:spPr>
      </p:pic>
      <p:pic>
        <p:nvPicPr>
          <p:cNvPr name="Picture 7" id="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a:off x="13627100" y="1905000"/>
            <a:ext cx="3937000" cy="4368800"/>
          </a:xfrm>
          <a:prstGeom prst="rect">
            <a:avLst/>
          </a:prstGeom>
        </p:spPr>
      </p:pic>
      <p:pic>
        <p:nvPicPr>
          <p:cNvPr name="Picture 8" id="8"/>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9410700" y="6553200"/>
            <a:ext cx="8140700" cy="2425700"/>
          </a:xfrm>
          <a:prstGeom prst="rect">
            <a:avLst/>
          </a:prstGeom>
        </p:spPr>
      </p:pic>
      <p:pic>
        <p:nvPicPr>
          <p:cNvPr name="Picture 9" id="9"/>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a:off x="9944100" y="5346700"/>
            <a:ext cx="2882900" cy="520700"/>
          </a:xfrm>
          <a:prstGeom prst="rect">
            <a:avLst/>
          </a:prstGeom>
        </p:spPr>
      </p:pic>
      <p:pic>
        <p:nvPicPr>
          <p:cNvPr name="Picture 10" id="10"/>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a:off x="12204700" y="5384800"/>
            <a:ext cx="444500" cy="444500"/>
          </a:xfrm>
          <a:prstGeom prst="rect">
            <a:avLst/>
          </a:prstGeom>
        </p:spPr>
      </p:pic>
      <p:pic>
        <p:nvPicPr>
          <p:cNvPr name="Picture 11" id="11"/>
          <p:cNvPicPr>
            <a:picLocks noChangeAspect="true"/>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a:off x="14160500" y="5346700"/>
            <a:ext cx="2882900" cy="520700"/>
          </a:xfrm>
          <a:prstGeom prst="rect">
            <a:avLst/>
          </a:prstGeom>
        </p:spPr>
      </p:pic>
      <p:pic>
        <p:nvPicPr>
          <p:cNvPr name="Picture 12" id="12"/>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a:off x="16421100" y="5384800"/>
            <a:ext cx="444500" cy="444500"/>
          </a:xfrm>
          <a:prstGeom prst="rect">
            <a:avLst/>
          </a:prstGeom>
        </p:spPr>
      </p:pic>
      <p:sp>
        <p:nvSpPr>
          <p:cNvPr name="TextBox 13" id="13"/>
          <p:cNvSpPr txBox="true"/>
          <p:nvPr/>
        </p:nvSpPr>
        <p:spPr>
          <a:xfrm rot="0">
            <a:off x="9944100" y="8001000"/>
            <a:ext cx="7239000" cy="5207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Adopting [SpendSmart] was the highest-leverage financial decision we made this year. We achieved zero data discrepancies and unlocked a full ROI within [our first quarter].</a:t>
            </a:r>
          </a:p>
        </p:txBody>
      </p:sp>
      <p:sp>
        <p:nvSpPr>
          <p:cNvPr name="TextBox 14" id="14"/>
          <p:cNvSpPr txBox="true"/>
          <p:nvPr/>
        </p:nvSpPr>
        <p:spPr>
          <a:xfrm rot="0">
            <a:off x="9944100" y="7010400"/>
            <a:ext cx="5600700" cy="774700"/>
          </a:xfrm>
          <a:prstGeom prst="rect">
            <a:avLst/>
          </a:prstGeom>
        </p:spPr>
        <p:txBody>
          <a:bodyPr anchor="t" rtlCol="false" lIns="0" tIns="0" rIns="0" bIns="0"/>
          <a:lstStyle/>
          <a:p>
            <a:pPr algn="l" lvl="0">
              <a:lnSpc>
                <a:spcPct val="116199"/>
              </a:lnSpc>
            </a:pPr>
            <a:r>
              <a:rPr lang="en-US" sz="2097" b="false" i="false" u="none" strike="noStrike">
                <a:solidFill>
                  <a:srgbClr val="FAF8F9"/>
                </a:solidFill>
                <a:latin typeface="Hauora Regular"/>
                <a:ea typeface="Hauora Regular"/>
                <a:cs typeface="Hauora Regular"/>
              </a:rPr>
              <a:t>Hunter Blake, Head of Revenue</a:t>
            </a:r>
          </a:p>
          <a:p>
            <a:pPr algn="l" lvl="0">
              <a:lnSpc>
                <a:spcPct val="116199"/>
              </a:lnSpc>
            </a:pPr>
            <a:r>
              <a:rPr lang="en-US" sz="2097" b="false" i="false" u="none" strike="noStrike">
                <a:solidFill>
                  <a:srgbClr val="FAF8F9"/>
                </a:solidFill>
                <a:latin typeface="Hauora Regular"/>
                <a:ea typeface="Hauora Regular"/>
                <a:cs typeface="Hauora Regular"/>
              </a:rPr>
              <a:t>Operations at [Global Enterprise SaaS]</a:t>
            </a:r>
          </a:p>
        </p:txBody>
      </p:sp>
      <p:sp>
        <p:nvSpPr>
          <p:cNvPr name="TextBox 15" id="15"/>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171717"/>
                </a:solidFill>
                <a:latin typeface="Hauora SemiBold"/>
                <a:ea typeface="Hauora SemiBold"/>
                <a:cs typeface="Hauora SemiBold"/>
              </a:rPr>
              <a:t>MIRI Company</a:t>
            </a:r>
          </a:p>
        </p:txBody>
      </p:sp>
      <p:sp>
        <p:nvSpPr>
          <p:cNvPr name="TextBox 16" id="16"/>
          <p:cNvSpPr txBox="true"/>
          <p:nvPr/>
        </p:nvSpPr>
        <p:spPr>
          <a:xfrm rot="0">
            <a:off x="762000" y="1739900"/>
            <a:ext cx="6096000" cy="2540000"/>
          </a:xfrm>
          <a:prstGeom prst="rect">
            <a:avLst/>
          </a:prstGeom>
        </p:spPr>
        <p:txBody>
          <a:bodyPr anchor="t" rtlCol="false" lIns="0" tIns="96520" rIns="0" bIns="0"/>
          <a:lstStyle/>
          <a:p>
            <a:pPr algn="l" lvl="0">
              <a:lnSpc>
                <a:spcPct val="99600"/>
              </a:lnSpc>
            </a:pPr>
            <a:r>
              <a:rPr lang="en-US" sz="7598" b="false" i="false" u="none" strike="noStrike">
                <a:solidFill>
                  <a:srgbClr val="171717"/>
                </a:solidFill>
                <a:latin typeface="Anuphan SemiBold"/>
                <a:ea typeface="Anuphan SemiBold"/>
                <a:cs typeface="Anuphan SemiBold"/>
              </a:rPr>
              <a:t>The Wall</a:t>
            </a:r>
          </a:p>
          <a:p>
            <a:pPr algn="l" lvl="0">
              <a:lnSpc>
                <a:spcPct val="99600"/>
              </a:lnSpc>
            </a:pPr>
            <a:r>
              <a:rPr lang="en-US" sz="7598" b="false" i="false" u="none" strike="noStrike">
                <a:solidFill>
                  <a:srgbClr val="171717"/>
                </a:solidFill>
                <a:latin typeface="Anuphan SemiBold"/>
                <a:ea typeface="Anuphan SemiBold"/>
                <a:cs typeface="Anuphan SemiBold"/>
              </a:rPr>
              <a:t>of Love</a:t>
            </a:r>
          </a:p>
        </p:txBody>
      </p:sp>
      <p:sp>
        <p:nvSpPr>
          <p:cNvPr name="TextBox 17" id="17"/>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18" id="18"/>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19" id="19"/>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20" id="20"/>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21" id="21"/>
          <p:cNvSpPr txBox="true"/>
          <p:nvPr/>
        </p:nvSpPr>
        <p:spPr>
          <a:xfrm rot="0">
            <a:off x="723900" y="5130800"/>
            <a:ext cx="5930900" cy="8763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 Trusted by forward-thinking</a:t>
            </a:r>
          </a:p>
          <a:p>
            <a:pPr algn="l" lvl="0">
              <a:lnSpc>
                <a:spcPct val="116199"/>
              </a:lnSpc>
            </a:pPr>
            <a:r>
              <a:rPr lang="en-US" sz="2400" b="false" i="false" u="none" strike="noStrike">
                <a:solidFill>
                  <a:srgbClr val="171717"/>
                </a:solidFill>
                <a:latin typeface="Hauora Regular"/>
                <a:ea typeface="Hauora Regular"/>
                <a:cs typeface="Hauora Regular"/>
              </a:rPr>
              <a:t>RevOps leaders worldwide</a:t>
            </a:r>
          </a:p>
        </p:txBody>
      </p:sp>
      <p:sp>
        <p:nvSpPr>
          <p:cNvPr name="TextBox 22" id="22"/>
          <p:cNvSpPr txBox="true"/>
          <p:nvPr/>
        </p:nvSpPr>
        <p:spPr>
          <a:xfrm rot="0">
            <a:off x="698500" y="7023100"/>
            <a:ext cx="5969000" cy="10160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Lorem ipsum dolor sit amet, consectetur adipiscing elit. Aenean eu orci non tellus vulputate posuere non id augue. Vivamus tempus purus quis lectus faucibus accumsan. Praesent ut eros metus. Pellentesque nec enim at diam volutpat interdum. Donec in ex mauris.</a:t>
            </a:r>
          </a:p>
        </p:txBody>
      </p:sp>
      <p:sp>
        <p:nvSpPr>
          <p:cNvPr name="TextBox 23" id="23"/>
          <p:cNvSpPr txBox="true"/>
          <p:nvPr/>
        </p:nvSpPr>
        <p:spPr>
          <a:xfrm rot="0">
            <a:off x="10261600" y="5461000"/>
            <a:ext cx="1765300" cy="304800"/>
          </a:xfrm>
          <a:prstGeom prst="rect">
            <a:avLst/>
          </a:prstGeom>
        </p:spPr>
        <p:txBody>
          <a:bodyPr anchor="t" rtlCol="false" lIns="0" tIns="20370" rIns="0" bIns="0"/>
          <a:lstStyle/>
          <a:p>
            <a:pPr algn="l" lvl="0">
              <a:lnSpc>
                <a:spcPct val="99600"/>
              </a:lnSpc>
            </a:pPr>
            <a:r>
              <a:rPr lang="en-US" sz="1603" b="false" i="false" u="none" strike="noStrike">
                <a:solidFill>
                  <a:srgbClr val="171717"/>
                </a:solidFill>
                <a:latin typeface="Anuphan SemiBold"/>
                <a:ea typeface="Anuphan SemiBold"/>
                <a:cs typeface="Anuphan SemiBold"/>
              </a:rPr>
              <a:t>LOREM IPSUM</a:t>
            </a:r>
          </a:p>
        </p:txBody>
      </p:sp>
      <p:sp>
        <p:nvSpPr>
          <p:cNvPr name="TextBox 24" id="24"/>
          <p:cNvSpPr txBox="true"/>
          <p:nvPr/>
        </p:nvSpPr>
        <p:spPr>
          <a:xfrm rot="0">
            <a:off x="9677400" y="3263900"/>
            <a:ext cx="3403600" cy="1054100"/>
          </a:xfrm>
          <a:prstGeom prst="rect">
            <a:avLst/>
          </a:prstGeom>
        </p:spPr>
        <p:txBody>
          <a:bodyPr anchor="t" rtlCol="false" lIns="0" tIns="73628" rIns="0" bIns="0"/>
          <a:lstStyle/>
          <a:p>
            <a:pPr algn="ctr" lvl="0">
              <a:lnSpc>
                <a:spcPct val="99600"/>
              </a:lnSpc>
            </a:pPr>
            <a:r>
              <a:rPr lang="en-US" sz="5797" b="false" i="false" u="none" strike="noStrike">
                <a:solidFill>
                  <a:srgbClr val="171717"/>
                </a:solidFill>
                <a:latin typeface="Anuphan SemiBold"/>
                <a:ea typeface="Anuphan SemiBold"/>
                <a:cs typeface="Anuphan SemiBold"/>
              </a:rPr>
              <a:t>4.9/5</a:t>
            </a:r>
          </a:p>
        </p:txBody>
      </p:sp>
      <p:sp>
        <p:nvSpPr>
          <p:cNvPr name="TextBox 25" id="25"/>
          <p:cNvSpPr txBox="true"/>
          <p:nvPr/>
        </p:nvSpPr>
        <p:spPr>
          <a:xfrm rot="0">
            <a:off x="9779000" y="4521200"/>
            <a:ext cx="3200400" cy="279400"/>
          </a:xfrm>
          <a:prstGeom prst="rect">
            <a:avLst/>
          </a:prstGeom>
        </p:spPr>
        <p:txBody>
          <a:bodyPr anchor="t" rtlCol="false" lIns="0" tIns="0" rIns="0" bIns="0"/>
          <a:lstStyle/>
          <a:p>
            <a:pPr algn="ctr" lvl="0">
              <a:lnSpc>
                <a:spcPct val="116199"/>
              </a:lnSpc>
            </a:pPr>
            <a:r>
              <a:rPr lang="en-US" sz="1400" b="false" i="false" u="none" strike="noStrike">
                <a:solidFill>
                  <a:srgbClr val="171717"/>
                </a:solidFill>
                <a:latin typeface="Hauora Regular"/>
                <a:ea typeface="Hauora Regular"/>
                <a:cs typeface="Hauora Regular"/>
              </a:rPr>
              <a:t>Lorem ipsum dolor sit amet</a:t>
            </a:r>
          </a:p>
        </p:txBody>
      </p:sp>
      <p:sp>
        <p:nvSpPr>
          <p:cNvPr name="TextBox 26" id="26"/>
          <p:cNvSpPr txBox="true"/>
          <p:nvPr/>
        </p:nvSpPr>
        <p:spPr>
          <a:xfrm rot="0">
            <a:off x="9753600" y="2362200"/>
            <a:ext cx="3263900" cy="774700"/>
          </a:xfrm>
          <a:prstGeom prst="rect">
            <a:avLst/>
          </a:prstGeom>
        </p:spPr>
        <p:txBody>
          <a:bodyPr anchor="t" rtlCol="false" lIns="0" tIns="0" rIns="0" bIns="0"/>
          <a:lstStyle/>
          <a:p>
            <a:pPr algn="ctr" lvl="0">
              <a:lnSpc>
                <a:spcPct val="116199"/>
              </a:lnSpc>
            </a:pPr>
            <a:r>
              <a:rPr lang="en-US" sz="2097" b="false" i="false" u="none" strike="noStrike">
                <a:solidFill>
                  <a:srgbClr val="171717"/>
                </a:solidFill>
                <a:latin typeface="Hauora Regular"/>
                <a:ea typeface="Hauora Regular"/>
                <a:cs typeface="Hauora Regular"/>
              </a:rPr>
              <a:t>Customer</a:t>
            </a:r>
          </a:p>
          <a:p>
            <a:pPr algn="ctr" lvl="0">
              <a:lnSpc>
                <a:spcPct val="116199"/>
              </a:lnSpc>
            </a:pPr>
            <a:r>
              <a:rPr lang="en-US" sz="2097" b="false" i="false" u="none" strike="noStrike">
                <a:solidFill>
                  <a:srgbClr val="171717"/>
                </a:solidFill>
                <a:latin typeface="Hauora Regular"/>
                <a:ea typeface="Hauora Regular"/>
                <a:cs typeface="Hauora Regular"/>
              </a:rPr>
              <a:t>Satisfaction on G2</a:t>
            </a:r>
          </a:p>
        </p:txBody>
      </p:sp>
      <p:sp>
        <p:nvSpPr>
          <p:cNvPr name="TextBox 27" id="27"/>
          <p:cNvSpPr txBox="true"/>
          <p:nvPr/>
        </p:nvSpPr>
        <p:spPr>
          <a:xfrm rot="0">
            <a:off x="14478000" y="5461000"/>
            <a:ext cx="1765300" cy="304800"/>
          </a:xfrm>
          <a:prstGeom prst="rect">
            <a:avLst/>
          </a:prstGeom>
        </p:spPr>
        <p:txBody>
          <a:bodyPr anchor="t" rtlCol="false" lIns="0" tIns="20370" rIns="0" bIns="0"/>
          <a:lstStyle/>
          <a:p>
            <a:pPr algn="l" lvl="0">
              <a:lnSpc>
                <a:spcPct val="99600"/>
              </a:lnSpc>
            </a:pPr>
            <a:r>
              <a:rPr lang="en-US" sz="1603" b="false" i="false" u="none" strike="noStrike">
                <a:solidFill>
                  <a:srgbClr val="171717"/>
                </a:solidFill>
                <a:latin typeface="Anuphan SemiBold"/>
                <a:ea typeface="Anuphan SemiBold"/>
                <a:cs typeface="Anuphan SemiBold"/>
              </a:rPr>
              <a:t>LOREM IPSUM</a:t>
            </a:r>
          </a:p>
        </p:txBody>
      </p:sp>
      <p:sp>
        <p:nvSpPr>
          <p:cNvPr name="TextBox 28" id="28"/>
          <p:cNvSpPr txBox="true"/>
          <p:nvPr/>
        </p:nvSpPr>
        <p:spPr>
          <a:xfrm rot="0">
            <a:off x="13893800" y="3263900"/>
            <a:ext cx="3403600" cy="1054100"/>
          </a:xfrm>
          <a:prstGeom prst="rect">
            <a:avLst/>
          </a:prstGeom>
        </p:spPr>
        <p:txBody>
          <a:bodyPr anchor="t" rtlCol="false" lIns="0" tIns="73628" rIns="0" bIns="0"/>
          <a:lstStyle/>
          <a:p>
            <a:pPr algn="ctr" lvl="0">
              <a:lnSpc>
                <a:spcPct val="99600"/>
              </a:lnSpc>
            </a:pPr>
            <a:r>
              <a:rPr lang="en-US" sz="5797" b="false" i="false" u="none" strike="noStrike">
                <a:solidFill>
                  <a:srgbClr val="171717"/>
                </a:solidFill>
                <a:latin typeface="Anuphan SemiBold"/>
                <a:ea typeface="Anuphan SemiBold"/>
                <a:cs typeface="Anuphan SemiBold"/>
              </a:rPr>
              <a:t>10,000+</a:t>
            </a:r>
          </a:p>
        </p:txBody>
      </p:sp>
      <p:sp>
        <p:nvSpPr>
          <p:cNvPr name="TextBox 29" id="29"/>
          <p:cNvSpPr txBox="true"/>
          <p:nvPr/>
        </p:nvSpPr>
        <p:spPr>
          <a:xfrm rot="0">
            <a:off x="13995400" y="4521200"/>
            <a:ext cx="3200400" cy="279400"/>
          </a:xfrm>
          <a:prstGeom prst="rect">
            <a:avLst/>
          </a:prstGeom>
        </p:spPr>
        <p:txBody>
          <a:bodyPr anchor="t" rtlCol="false" lIns="0" tIns="0" rIns="0" bIns="0"/>
          <a:lstStyle/>
          <a:p>
            <a:pPr algn="ctr" lvl="0">
              <a:lnSpc>
                <a:spcPct val="116199"/>
              </a:lnSpc>
            </a:pPr>
            <a:r>
              <a:rPr lang="en-US" sz="1400" b="false" i="false" u="none" strike="noStrike">
                <a:solidFill>
                  <a:srgbClr val="171717"/>
                </a:solidFill>
                <a:latin typeface="Hauora Regular"/>
                <a:ea typeface="Hauora Regular"/>
                <a:cs typeface="Hauora Regular"/>
              </a:rPr>
              <a:t>Lorem ipsum dolor sit amet</a:t>
            </a:r>
          </a:p>
        </p:txBody>
      </p:sp>
      <p:sp>
        <p:nvSpPr>
          <p:cNvPr name="TextBox 30" id="30"/>
          <p:cNvSpPr txBox="true"/>
          <p:nvPr/>
        </p:nvSpPr>
        <p:spPr>
          <a:xfrm rot="0">
            <a:off x="13970000" y="2362200"/>
            <a:ext cx="3263900" cy="774700"/>
          </a:xfrm>
          <a:prstGeom prst="rect">
            <a:avLst/>
          </a:prstGeom>
        </p:spPr>
        <p:txBody>
          <a:bodyPr anchor="t" rtlCol="false" lIns="0" tIns="0" rIns="0" bIns="0"/>
          <a:lstStyle/>
          <a:p>
            <a:pPr algn="ctr" lvl="0">
              <a:lnSpc>
                <a:spcPct val="116199"/>
              </a:lnSpc>
            </a:pPr>
            <a:r>
              <a:rPr lang="en-US" sz="2097" b="false" i="false" u="none" strike="noStrike">
                <a:solidFill>
                  <a:srgbClr val="171717"/>
                </a:solidFill>
                <a:latin typeface="Hauora Regular"/>
                <a:ea typeface="Hauora Regular"/>
                <a:cs typeface="Hauora Regular"/>
              </a:rPr>
              <a:t>Global</a:t>
            </a:r>
          </a:p>
          <a:p>
            <a:pPr algn="ctr" lvl="0">
              <a:lnSpc>
                <a:spcPct val="116199"/>
              </a:lnSpc>
            </a:pPr>
            <a:r>
              <a:rPr lang="en-US" sz="2097" b="false" i="false" u="none" strike="noStrike">
                <a:solidFill>
                  <a:srgbClr val="171717"/>
                </a:solidFill>
                <a:latin typeface="Hauora Regular"/>
                <a:ea typeface="Hauora Regular"/>
                <a:cs typeface="Hauora Regular"/>
              </a:rPr>
              <a:t>Enterprise Users</a:t>
            </a:r>
          </a:p>
        </p:txBody>
      </p:sp>
    </p:spTree>
  </p:cSld>
  <p:clrMapOvr>
    <a:masterClrMapping/>
  </p:clrMapOvr>
</p:sld>
</file>

<file path=ppt/slides/slide8.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762000" y="698500"/>
            <a:ext cx="495300" cy="2794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10401300" y="546100"/>
            <a:ext cx="7162800" cy="5461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a:off x="15608300" y="546100"/>
            <a:ext cx="1943100" cy="546100"/>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a:off x="17119600" y="673100"/>
            <a:ext cx="304800" cy="304800"/>
          </a:xfrm>
          <a:prstGeom prst="rect">
            <a:avLst/>
          </a:prstGeom>
        </p:spPr>
      </p:pic>
      <p:pic>
        <p:nvPicPr>
          <p:cNvPr name="Picture 6" id="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a:off x="7962900" y="1905000"/>
            <a:ext cx="9588500" cy="7785100"/>
          </a:xfrm>
          <a:prstGeom prst="rect">
            <a:avLst/>
          </a:prstGeom>
        </p:spPr>
      </p:pic>
      <p:pic>
        <p:nvPicPr>
          <p:cNvPr name="Picture 7" id="7"/>
          <p:cNvPicPr>
            <a:picLocks noChangeAspect="true"/>
          </p:cNvPicPr>
          <p:nvPr/>
        </p:nvPicPr>
        <p:blipFill>
          <a:blip r:embed="rId12"/>
          <a:stretch>
            <a:fillRect/>
          </a:stretch>
        </p:blipFill>
        <p:spPr>
          <a:xfrm rot="0">
            <a:off x="8280400" y="2146300"/>
            <a:ext cx="8978900" cy="7315200"/>
          </a:xfrm>
          <a:prstGeom prst="rect">
            <a:avLst/>
          </a:prstGeom>
        </p:spPr>
      </p:pic>
      <p:pic>
        <p:nvPicPr>
          <p:cNvPr name="Picture 8" id="8"/>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a:off x="749300" y="6604000"/>
            <a:ext cx="3263900" cy="3073400"/>
          </a:xfrm>
          <a:prstGeom prst="rect">
            <a:avLst/>
          </a:prstGeom>
        </p:spPr>
      </p:pic>
      <p:pic>
        <p:nvPicPr>
          <p:cNvPr name="Picture 9" id="9"/>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a:off x="4356100" y="6604000"/>
            <a:ext cx="3263900" cy="3073400"/>
          </a:xfrm>
          <a:prstGeom prst="rect">
            <a:avLst/>
          </a:prstGeom>
        </p:spPr>
      </p:pic>
      <p:sp>
        <p:nvSpPr>
          <p:cNvPr name="TextBox 10" id="10"/>
          <p:cNvSpPr txBox="true"/>
          <p:nvPr/>
        </p:nvSpPr>
        <p:spPr>
          <a:xfrm rot="0">
            <a:off x="4559300" y="8750300"/>
            <a:ext cx="2692400" cy="520700"/>
          </a:xfrm>
          <a:prstGeom prst="rect">
            <a:avLst/>
          </a:prstGeom>
        </p:spPr>
        <p:txBody>
          <a:bodyPr anchor="t" rtlCol="false" lIns="0" tIns="0" rIns="0" bIns="0"/>
          <a:lstStyle/>
          <a:p>
            <a:pPr algn="ctr" lvl="0">
              <a:lnSpc>
                <a:spcPct val="116199"/>
              </a:lnSpc>
            </a:pPr>
            <a:r>
              <a:rPr lang="en-US" sz="1400" b="false" i="false" u="none" strike="noStrike">
                <a:solidFill>
                  <a:srgbClr val="171717"/>
                </a:solidFill>
                <a:latin typeface="Hauora Regular"/>
                <a:ea typeface="Hauora Regular"/>
                <a:cs typeface="Hauora Regular"/>
              </a:rPr>
              <a:t> Annual operational</a:t>
            </a:r>
          </a:p>
          <a:p>
            <a:pPr algn="ctr" lvl="0">
              <a:lnSpc>
                <a:spcPct val="116199"/>
              </a:lnSpc>
            </a:pPr>
            <a:r>
              <a:rPr lang="en-US" sz="1400" b="false" i="false" u="none" strike="noStrike">
                <a:solidFill>
                  <a:srgbClr val="171717"/>
                </a:solidFill>
                <a:latin typeface="Hauora Regular"/>
                <a:ea typeface="Hauora Regular"/>
                <a:cs typeface="Hauora Regular"/>
              </a:rPr>
              <a:t>costs saved</a:t>
            </a:r>
          </a:p>
        </p:txBody>
      </p:sp>
      <p:sp>
        <p:nvSpPr>
          <p:cNvPr name="TextBox 11" id="11"/>
          <p:cNvSpPr txBox="true"/>
          <p:nvPr/>
        </p:nvSpPr>
        <p:spPr>
          <a:xfrm rot="0">
            <a:off x="4483100" y="7213600"/>
            <a:ext cx="2857500" cy="1054100"/>
          </a:xfrm>
          <a:prstGeom prst="rect">
            <a:avLst/>
          </a:prstGeom>
        </p:spPr>
        <p:txBody>
          <a:bodyPr anchor="t" rtlCol="false" lIns="0" tIns="73628" rIns="0" bIns="0"/>
          <a:lstStyle/>
          <a:p>
            <a:pPr algn="ctr" lvl="0">
              <a:lnSpc>
                <a:spcPct val="99600"/>
              </a:lnSpc>
            </a:pPr>
            <a:r>
              <a:rPr lang="en-US" sz="5797" b="false" i="false" u="none" strike="noStrike">
                <a:solidFill>
                  <a:srgbClr val="171717"/>
                </a:solidFill>
                <a:latin typeface="Anuphan SemiBold"/>
                <a:ea typeface="Anuphan SemiBold"/>
                <a:cs typeface="Anuphan SemiBold"/>
              </a:rPr>
              <a:t>-$120k</a:t>
            </a:r>
          </a:p>
        </p:txBody>
      </p:sp>
      <p:sp>
        <p:nvSpPr>
          <p:cNvPr name="TextBox 12" id="12"/>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171717"/>
                </a:solidFill>
                <a:latin typeface="Hauora SemiBold"/>
                <a:ea typeface="Hauora SemiBold"/>
                <a:cs typeface="Hauora SemiBold"/>
              </a:rPr>
              <a:t>MIRI Company</a:t>
            </a:r>
          </a:p>
        </p:txBody>
      </p:sp>
      <p:sp>
        <p:nvSpPr>
          <p:cNvPr name="TextBox 13" id="13"/>
          <p:cNvSpPr txBox="true"/>
          <p:nvPr/>
        </p:nvSpPr>
        <p:spPr>
          <a:xfrm rot="0">
            <a:off x="762000" y="1739900"/>
            <a:ext cx="6096000" cy="2540000"/>
          </a:xfrm>
          <a:prstGeom prst="rect">
            <a:avLst/>
          </a:prstGeom>
        </p:spPr>
        <p:txBody>
          <a:bodyPr anchor="t" rtlCol="false" lIns="0" tIns="96520" rIns="0" bIns="0"/>
          <a:lstStyle/>
          <a:p>
            <a:pPr algn="l" lvl="0">
              <a:lnSpc>
                <a:spcPct val="99600"/>
              </a:lnSpc>
            </a:pPr>
            <a:r>
              <a:rPr lang="en-US" sz="7598" b="false" i="false" u="none" strike="noStrike">
                <a:solidFill>
                  <a:srgbClr val="171717"/>
                </a:solidFill>
                <a:latin typeface="Anuphan SemiBold"/>
                <a:ea typeface="Anuphan SemiBold"/>
                <a:cs typeface="Anuphan SemiBold"/>
              </a:rPr>
              <a:t>Case</a:t>
            </a:r>
          </a:p>
          <a:p>
            <a:pPr algn="l" lvl="0">
              <a:lnSpc>
                <a:spcPct val="99600"/>
              </a:lnSpc>
            </a:pPr>
            <a:r>
              <a:rPr lang="en-US" sz="7598" b="false" i="false" u="none" strike="noStrike">
                <a:solidFill>
                  <a:srgbClr val="171717"/>
                </a:solidFill>
                <a:latin typeface="Anuphan SemiBold"/>
                <a:ea typeface="Anuphan SemiBold"/>
                <a:cs typeface="Anuphan SemiBold"/>
              </a:rPr>
              <a:t>Study &amp; ROI </a:t>
            </a:r>
          </a:p>
        </p:txBody>
      </p:sp>
      <p:sp>
        <p:nvSpPr>
          <p:cNvPr name="TextBox 14" id="14"/>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15" id="15"/>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16" id="16"/>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17" id="17"/>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18" id="18"/>
          <p:cNvSpPr txBox="true"/>
          <p:nvPr/>
        </p:nvSpPr>
        <p:spPr>
          <a:xfrm rot="0">
            <a:off x="723900" y="5130800"/>
            <a:ext cx="6337300" cy="8763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How [TechNova] doubled their pipeline and unlocked a [300%] ROI in just [90 days].</a:t>
            </a:r>
          </a:p>
        </p:txBody>
      </p:sp>
      <p:sp>
        <p:nvSpPr>
          <p:cNvPr name="TextBox 19" id="19"/>
          <p:cNvSpPr txBox="true"/>
          <p:nvPr/>
        </p:nvSpPr>
        <p:spPr>
          <a:xfrm rot="0">
            <a:off x="965200" y="8750300"/>
            <a:ext cx="2692400" cy="520700"/>
          </a:xfrm>
          <a:prstGeom prst="rect">
            <a:avLst/>
          </a:prstGeom>
        </p:spPr>
        <p:txBody>
          <a:bodyPr anchor="t" rtlCol="false" lIns="0" tIns="0" rIns="0" bIns="0"/>
          <a:lstStyle/>
          <a:p>
            <a:pPr algn="ctr" lvl="0">
              <a:lnSpc>
                <a:spcPct val="116199"/>
              </a:lnSpc>
            </a:pPr>
            <a:r>
              <a:rPr lang="en-US" sz="1400" b="false" i="false" u="none" strike="noStrike">
                <a:solidFill>
                  <a:srgbClr val="FAF8F9"/>
                </a:solidFill>
                <a:latin typeface="Hauora Regular"/>
                <a:ea typeface="Hauora Regular"/>
                <a:cs typeface="Hauora Regular"/>
              </a:rPr>
              <a:t>Increase in team</a:t>
            </a:r>
          </a:p>
          <a:p>
            <a:pPr algn="ctr" lvl="0">
              <a:lnSpc>
                <a:spcPct val="116199"/>
              </a:lnSpc>
            </a:pPr>
            <a:r>
              <a:rPr lang="en-US" sz="1400" b="false" i="false" u="none" strike="noStrike">
                <a:solidFill>
                  <a:srgbClr val="FAF8F9"/>
                </a:solidFill>
                <a:latin typeface="Hauora Regular"/>
                <a:ea typeface="Hauora Regular"/>
                <a:cs typeface="Hauora Regular"/>
              </a:rPr>
              <a:t>productivity and output</a:t>
            </a:r>
          </a:p>
        </p:txBody>
      </p:sp>
      <p:sp>
        <p:nvSpPr>
          <p:cNvPr name="TextBox 20" id="20"/>
          <p:cNvSpPr txBox="true"/>
          <p:nvPr/>
        </p:nvSpPr>
        <p:spPr>
          <a:xfrm rot="0">
            <a:off x="876300" y="7213600"/>
            <a:ext cx="2857500" cy="1054100"/>
          </a:xfrm>
          <a:prstGeom prst="rect">
            <a:avLst/>
          </a:prstGeom>
        </p:spPr>
        <p:txBody>
          <a:bodyPr anchor="t" rtlCol="false" lIns="0" tIns="73628" rIns="0" bIns="0"/>
          <a:lstStyle/>
          <a:p>
            <a:pPr algn="ctr" lvl="0">
              <a:lnSpc>
                <a:spcPct val="99600"/>
              </a:lnSpc>
            </a:pPr>
            <a:r>
              <a:rPr lang="en-US" sz="5797" b="false" i="false" u="none" strike="noStrike">
                <a:solidFill>
                  <a:srgbClr val="FAF8F9"/>
                </a:solidFill>
                <a:latin typeface="Anuphan SemiBold"/>
                <a:ea typeface="Anuphan SemiBold"/>
                <a:cs typeface="Anuphan SemiBold"/>
              </a:rPr>
              <a:t>+45%</a:t>
            </a:r>
          </a:p>
        </p:txBody>
      </p:sp>
    </p:spTree>
  </p:cSld>
  <p:clrMapOvr>
    <a:masterClrMapping/>
  </p:clrMapOvr>
</p:sld>
</file>

<file path=ppt/slides/slide9.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14465300" y="2235200"/>
            <a:ext cx="3098800" cy="74422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11125200" y="2235200"/>
            <a:ext cx="3098800" cy="74422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a:off x="7797800" y="2235200"/>
            <a:ext cx="3098800" cy="7442200"/>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a:off x="10401300" y="546100"/>
            <a:ext cx="7162800" cy="546100"/>
          </a:xfrm>
          <a:prstGeom prst="rect">
            <a:avLst/>
          </a:prstGeom>
        </p:spPr>
      </p:pic>
      <p:pic>
        <p:nvPicPr>
          <p:cNvPr name="Picture 6" id="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a:off x="15608300" y="546100"/>
            <a:ext cx="1943100" cy="546100"/>
          </a:xfrm>
          <a:prstGeom prst="rect">
            <a:avLst/>
          </a:prstGeom>
        </p:spPr>
      </p:pic>
      <p:pic>
        <p:nvPicPr>
          <p:cNvPr name="Picture 7" id="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a:off x="17119600" y="673100"/>
            <a:ext cx="304800" cy="304800"/>
          </a:xfrm>
          <a:prstGeom prst="rect">
            <a:avLst/>
          </a:prstGeom>
        </p:spPr>
      </p:pic>
      <p:pic>
        <p:nvPicPr>
          <p:cNvPr name="Picture 8" id="8"/>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762000" y="698500"/>
            <a:ext cx="495300" cy="279400"/>
          </a:xfrm>
          <a:prstGeom prst="rect">
            <a:avLst/>
          </a:prstGeom>
        </p:spPr>
      </p:pic>
      <p:pic>
        <p:nvPicPr>
          <p:cNvPr name="Picture 9" id="9"/>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a:off x="8077200" y="5219700"/>
            <a:ext cx="127000" cy="127000"/>
          </a:xfrm>
          <a:prstGeom prst="rect">
            <a:avLst/>
          </a:prstGeom>
        </p:spPr>
      </p:pic>
      <p:pic>
        <p:nvPicPr>
          <p:cNvPr name="Picture 10" id="10"/>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a:off x="8077200" y="7442200"/>
            <a:ext cx="127000" cy="127000"/>
          </a:xfrm>
          <a:prstGeom prst="rect">
            <a:avLst/>
          </a:prstGeom>
        </p:spPr>
      </p:pic>
      <p:pic>
        <p:nvPicPr>
          <p:cNvPr name="Picture 11" id="11"/>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a:off x="8064500" y="2476500"/>
            <a:ext cx="1028700" cy="393700"/>
          </a:xfrm>
          <a:prstGeom prst="rect">
            <a:avLst/>
          </a:prstGeom>
        </p:spPr>
      </p:pic>
      <p:pic>
        <p:nvPicPr>
          <p:cNvPr name="Picture 12" id="12"/>
          <p:cNvPicPr>
            <a:picLocks noChangeAspect="true"/>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0">
            <a:off x="11404600" y="2476500"/>
            <a:ext cx="1028700" cy="393700"/>
          </a:xfrm>
          <a:prstGeom prst="rect">
            <a:avLst/>
          </a:prstGeom>
        </p:spPr>
      </p:pic>
      <p:pic>
        <p:nvPicPr>
          <p:cNvPr name="Picture 13" id="13"/>
          <p:cNvPicPr>
            <a:picLocks noChangeAspect="true"/>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0">
            <a:off x="14732000" y="2476500"/>
            <a:ext cx="1028700" cy="393700"/>
          </a:xfrm>
          <a:prstGeom prst="rect">
            <a:avLst/>
          </a:prstGeom>
        </p:spPr>
      </p:pic>
      <p:pic>
        <p:nvPicPr>
          <p:cNvPr name="Picture 14" id="14"/>
          <p:cNvPicPr>
            <a:picLocks noChangeAspect="true"/>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0">
            <a:off x="11404600" y="5219700"/>
            <a:ext cx="127000" cy="127000"/>
          </a:xfrm>
          <a:prstGeom prst="rect">
            <a:avLst/>
          </a:prstGeom>
        </p:spPr>
      </p:pic>
      <p:pic>
        <p:nvPicPr>
          <p:cNvPr name="Picture 15" id="15"/>
          <p:cNvPicPr>
            <a:picLocks noChangeAspect="true"/>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0">
            <a:off x="11404600" y="7442200"/>
            <a:ext cx="127000" cy="127000"/>
          </a:xfrm>
          <a:prstGeom prst="rect">
            <a:avLst/>
          </a:prstGeom>
        </p:spPr>
      </p:pic>
      <p:pic>
        <p:nvPicPr>
          <p:cNvPr name="Picture 16" id="16"/>
          <p:cNvPicPr>
            <a:picLocks noChangeAspect="true"/>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0">
            <a:off x="14732000" y="5219700"/>
            <a:ext cx="127000" cy="127000"/>
          </a:xfrm>
          <a:prstGeom prst="rect">
            <a:avLst/>
          </a:prstGeom>
        </p:spPr>
      </p:pic>
      <p:pic>
        <p:nvPicPr>
          <p:cNvPr name="Picture 17" id="17"/>
          <p:cNvPicPr>
            <a:picLocks noChangeAspect="true"/>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0">
            <a:off x="14732000" y="7442200"/>
            <a:ext cx="127000" cy="127000"/>
          </a:xfrm>
          <a:prstGeom prst="rect">
            <a:avLst/>
          </a:prstGeom>
        </p:spPr>
      </p:pic>
      <p:pic>
        <p:nvPicPr>
          <p:cNvPr name="Picture 18" id="18"/>
          <p:cNvPicPr>
            <a:picLocks noChangeAspect="true"/>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rot="0">
            <a:off x="762000" y="5130800"/>
            <a:ext cx="6769100" cy="4546600"/>
          </a:xfrm>
          <a:prstGeom prst="rect">
            <a:avLst/>
          </a:prstGeom>
        </p:spPr>
      </p:pic>
      <p:pic>
        <p:nvPicPr>
          <p:cNvPr name="Picture 19" id="19"/>
          <p:cNvPicPr>
            <a:picLocks noChangeAspect="true"/>
          </p:cNvPicPr>
          <p:nvPr/>
        </p:nvPicPr>
        <p:blipFill>
          <a:blip r:embed="rId32"/>
          <a:stretch>
            <a:fillRect/>
          </a:stretch>
        </p:blipFill>
        <p:spPr>
          <a:xfrm rot="0">
            <a:off x="1066800" y="5130800"/>
            <a:ext cx="6121400" cy="4330700"/>
          </a:xfrm>
          <a:prstGeom prst="rect">
            <a:avLst/>
          </a:prstGeom>
        </p:spPr>
      </p:pic>
      <p:sp>
        <p:nvSpPr>
          <p:cNvPr name="TextBox 20" id="20"/>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21" id="21"/>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22" id="22"/>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23" id="23"/>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24" id="24"/>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171717"/>
                </a:solidFill>
                <a:latin typeface="Hauora SemiBold"/>
                <a:ea typeface="Hauora SemiBold"/>
                <a:cs typeface="Hauora SemiBold"/>
              </a:rPr>
              <a:t>MIRI Company</a:t>
            </a:r>
          </a:p>
        </p:txBody>
      </p:sp>
      <p:sp>
        <p:nvSpPr>
          <p:cNvPr name="TextBox 25" id="25"/>
          <p:cNvSpPr txBox="true"/>
          <p:nvPr/>
        </p:nvSpPr>
        <p:spPr>
          <a:xfrm rot="0">
            <a:off x="762000" y="1739900"/>
            <a:ext cx="6591300" cy="2540000"/>
          </a:xfrm>
          <a:prstGeom prst="rect">
            <a:avLst/>
          </a:prstGeom>
        </p:spPr>
        <p:txBody>
          <a:bodyPr anchor="t" rtlCol="false" lIns="0" tIns="96520" rIns="0" bIns="0"/>
          <a:lstStyle/>
          <a:p>
            <a:pPr algn="l" lvl="0">
              <a:lnSpc>
                <a:spcPct val="99600"/>
              </a:lnSpc>
            </a:pPr>
            <a:r>
              <a:rPr lang="en-US" sz="7598" b="false" i="false" u="none" strike="noStrike">
                <a:solidFill>
                  <a:srgbClr val="171717"/>
                </a:solidFill>
                <a:latin typeface="Anuphan SemiBold"/>
                <a:ea typeface="Anuphan SemiBold"/>
                <a:cs typeface="Anuphan SemiBold"/>
              </a:rPr>
              <a:t>Why Us?</a:t>
            </a:r>
          </a:p>
        </p:txBody>
      </p:sp>
      <p:sp>
        <p:nvSpPr>
          <p:cNvPr name="TextBox 26" id="26"/>
          <p:cNvSpPr txBox="true"/>
          <p:nvPr/>
        </p:nvSpPr>
        <p:spPr>
          <a:xfrm rot="0">
            <a:off x="723900" y="3327400"/>
            <a:ext cx="6438900" cy="8763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Built differently for modern [HR leaders]. See how we stack up against legacy tools.</a:t>
            </a:r>
          </a:p>
        </p:txBody>
      </p:sp>
      <p:sp>
        <p:nvSpPr>
          <p:cNvPr name="TextBox 27" id="27"/>
          <p:cNvSpPr txBox="true"/>
          <p:nvPr/>
        </p:nvSpPr>
        <p:spPr>
          <a:xfrm rot="0">
            <a:off x="8077200" y="3225800"/>
            <a:ext cx="2501900" cy="876300"/>
          </a:xfrm>
          <a:prstGeom prst="rect">
            <a:avLst/>
          </a:prstGeom>
        </p:spPr>
        <p:txBody>
          <a:bodyPr anchor="t" rtlCol="false" lIns="0" tIns="0" rIns="0" bIns="0"/>
          <a:lstStyle/>
          <a:p>
            <a:pPr algn="l" lvl="0">
              <a:lnSpc>
                <a:spcPct val="116199"/>
              </a:lnSpc>
            </a:pPr>
            <a:r>
              <a:rPr lang="en-US" sz="2400" b="false" i="false" u="none" strike="noStrike">
                <a:solidFill>
                  <a:srgbClr val="FAF8F9"/>
                </a:solidFill>
                <a:latin typeface="Hauora Regular"/>
                <a:ea typeface="Hauora Regular"/>
                <a:cs typeface="Hauora Regular"/>
              </a:rPr>
              <a:t>10x Faster Deployment</a:t>
            </a:r>
          </a:p>
        </p:txBody>
      </p:sp>
      <p:sp>
        <p:nvSpPr>
          <p:cNvPr name="TextBox 28" id="28"/>
          <p:cNvSpPr txBox="true"/>
          <p:nvPr/>
        </p:nvSpPr>
        <p:spPr>
          <a:xfrm rot="0">
            <a:off x="8267700" y="5880100"/>
            <a:ext cx="2400300" cy="10160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Stop paying for 5 different tools and duct-taping them together. We unify your entire workflow.</a:t>
            </a:r>
          </a:p>
        </p:txBody>
      </p:sp>
      <p:sp>
        <p:nvSpPr>
          <p:cNvPr name="TextBox 29" id="29"/>
          <p:cNvSpPr txBox="true"/>
          <p:nvPr/>
        </p:nvSpPr>
        <p:spPr>
          <a:xfrm rot="0">
            <a:off x="8267700" y="5143500"/>
            <a:ext cx="2400300" cy="596900"/>
          </a:xfrm>
          <a:prstGeom prst="rect">
            <a:avLst/>
          </a:prstGeom>
        </p:spPr>
        <p:txBody>
          <a:bodyPr anchor="t" rtlCol="false" lIns="0" tIns="0" rIns="0" bIns="0"/>
          <a:lstStyle/>
          <a:p>
            <a:pPr algn="l" lvl="0">
              <a:lnSpc>
                <a:spcPct val="116199"/>
              </a:lnSpc>
            </a:pPr>
            <a:r>
              <a:rPr lang="en-US" sz="1597" b="false" i="false" u="none" strike="noStrike">
                <a:solidFill>
                  <a:srgbClr val="FAF8F9"/>
                </a:solidFill>
                <a:latin typeface="Hauora Bold"/>
                <a:ea typeface="Hauora Bold"/>
                <a:cs typeface="Hauora Bold"/>
              </a:rPr>
              <a:t>A True All-in-</a:t>
            </a:r>
          </a:p>
          <a:p>
            <a:pPr algn="l" lvl="0">
              <a:lnSpc>
                <a:spcPct val="116199"/>
              </a:lnSpc>
            </a:pPr>
            <a:r>
              <a:rPr lang="en-US" sz="1597" b="false" i="false" u="none" strike="noStrike">
                <a:solidFill>
                  <a:srgbClr val="FAF8F9"/>
                </a:solidFill>
                <a:latin typeface="Hauora Bold"/>
                <a:ea typeface="Hauora Bold"/>
                <a:cs typeface="Hauora Bold"/>
              </a:rPr>
              <a:t>One Platform</a:t>
            </a:r>
          </a:p>
        </p:txBody>
      </p:sp>
      <p:sp>
        <p:nvSpPr>
          <p:cNvPr name="TextBox 30" id="30"/>
          <p:cNvSpPr txBox="true"/>
          <p:nvPr/>
        </p:nvSpPr>
        <p:spPr>
          <a:xfrm rot="0">
            <a:off x="8267700" y="8102600"/>
            <a:ext cx="2400300" cy="10160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You get a dedicated success manager, not a chatbot. We are partners in your growth.</a:t>
            </a:r>
          </a:p>
        </p:txBody>
      </p:sp>
      <p:sp>
        <p:nvSpPr>
          <p:cNvPr name="TextBox 31" id="31"/>
          <p:cNvSpPr txBox="true"/>
          <p:nvPr/>
        </p:nvSpPr>
        <p:spPr>
          <a:xfrm rot="0">
            <a:off x="8267700" y="7366000"/>
            <a:ext cx="2400300" cy="596900"/>
          </a:xfrm>
          <a:prstGeom prst="rect">
            <a:avLst/>
          </a:prstGeom>
        </p:spPr>
        <p:txBody>
          <a:bodyPr anchor="t" rtlCol="false" lIns="0" tIns="0" rIns="0" bIns="0"/>
          <a:lstStyle/>
          <a:p>
            <a:pPr algn="l" lvl="0">
              <a:lnSpc>
                <a:spcPct val="116199"/>
              </a:lnSpc>
            </a:pPr>
            <a:r>
              <a:rPr lang="en-US" sz="1597" b="false" i="false" u="none" strike="noStrike">
                <a:solidFill>
                  <a:srgbClr val="FAF8F9"/>
                </a:solidFill>
                <a:latin typeface="Hauora Bold"/>
                <a:ea typeface="Hauora Bold"/>
                <a:cs typeface="Hauora Bold"/>
              </a:rPr>
              <a:t>Unmatched</a:t>
            </a:r>
          </a:p>
          <a:p>
            <a:pPr algn="l" lvl="0">
              <a:lnSpc>
                <a:spcPct val="116199"/>
              </a:lnSpc>
            </a:pPr>
            <a:r>
              <a:rPr lang="en-US" sz="1597" b="false" i="false" u="none" strike="noStrike">
                <a:solidFill>
                  <a:srgbClr val="FAF8F9"/>
                </a:solidFill>
                <a:latin typeface="Hauora Bold"/>
                <a:ea typeface="Hauora Bold"/>
                <a:cs typeface="Hauora Bold"/>
              </a:rPr>
              <a:t>Human Support</a:t>
            </a:r>
          </a:p>
        </p:txBody>
      </p:sp>
      <p:sp>
        <p:nvSpPr>
          <p:cNvPr name="TextBox 32" id="32"/>
          <p:cNvSpPr txBox="true"/>
          <p:nvPr/>
        </p:nvSpPr>
        <p:spPr>
          <a:xfrm rot="0">
            <a:off x="8216900" y="2540000"/>
            <a:ext cx="723900" cy="279400"/>
          </a:xfrm>
          <a:prstGeom prst="rect">
            <a:avLst/>
          </a:prstGeom>
        </p:spPr>
        <p:txBody>
          <a:bodyPr anchor="t" rtlCol="false" lIns="0" tIns="17830" rIns="0" bIns="0"/>
          <a:lstStyle/>
          <a:p>
            <a:pPr algn="ctr" lvl="0">
              <a:lnSpc>
                <a:spcPct val="99600"/>
              </a:lnSpc>
            </a:pPr>
            <a:r>
              <a:rPr lang="en-US" sz="1403" b="false" i="false" u="none" strike="noStrike">
                <a:solidFill>
                  <a:srgbClr val="FAF8F9"/>
                </a:solidFill>
                <a:latin typeface="Anuphan SemiBold"/>
                <a:ea typeface="Anuphan SemiBold"/>
                <a:cs typeface="Anuphan SemiBold"/>
              </a:rPr>
              <a:t>KEY 1</a:t>
            </a:r>
          </a:p>
        </p:txBody>
      </p:sp>
      <p:sp>
        <p:nvSpPr>
          <p:cNvPr name="TextBox 33" id="33"/>
          <p:cNvSpPr txBox="true"/>
          <p:nvPr/>
        </p:nvSpPr>
        <p:spPr>
          <a:xfrm rot="0">
            <a:off x="11404600" y="3225800"/>
            <a:ext cx="2501900" cy="8763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Immediate</a:t>
            </a:r>
          </a:p>
          <a:p>
            <a:pPr algn="l" lvl="0">
              <a:lnSpc>
                <a:spcPct val="116199"/>
              </a:lnSpc>
            </a:pPr>
            <a:r>
              <a:rPr lang="en-US" sz="2400" b="false" i="false" u="none" strike="noStrike">
                <a:solidFill>
                  <a:srgbClr val="171717"/>
                </a:solidFill>
                <a:latin typeface="Hauora Regular"/>
                <a:ea typeface="Hauora Regular"/>
                <a:cs typeface="Hauora Regular"/>
              </a:rPr>
              <a:t>Time-to-Value</a:t>
            </a:r>
          </a:p>
        </p:txBody>
      </p:sp>
      <p:sp>
        <p:nvSpPr>
          <p:cNvPr name="TextBox 34" id="34"/>
          <p:cNvSpPr txBox="true"/>
          <p:nvPr/>
        </p:nvSpPr>
        <p:spPr>
          <a:xfrm rot="0">
            <a:off x="11569700" y="5384800"/>
            <a:ext cx="2463800" cy="20066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Stop paying multiple subscriptions for disconnected tools. We consolidate your operations into one unified system.</a:t>
            </a:r>
          </a:p>
        </p:txBody>
      </p:sp>
      <p:sp>
        <p:nvSpPr>
          <p:cNvPr name="TextBox 35" id="35"/>
          <p:cNvSpPr txBox="true"/>
          <p:nvPr/>
        </p:nvSpPr>
        <p:spPr>
          <a:xfrm rot="0">
            <a:off x="11607800" y="5143500"/>
            <a:ext cx="2400300" cy="596900"/>
          </a:xfrm>
          <a:prstGeom prst="rect">
            <a:avLst/>
          </a:prstGeom>
        </p:spPr>
        <p:txBody>
          <a:bodyPr anchor="t" rtlCol="false" lIns="0" tIns="0" rIns="0" bIns="0"/>
          <a:lstStyle/>
          <a:p>
            <a:pPr algn="l" lvl="0">
              <a:lnSpc>
                <a:spcPct val="116199"/>
              </a:lnSpc>
            </a:pPr>
            <a:r>
              <a:rPr lang="en-US" sz="1597" b="false" i="false" u="none" strike="noStrike">
                <a:solidFill>
                  <a:srgbClr val="171717"/>
                </a:solidFill>
                <a:latin typeface="Hauora Bold"/>
                <a:ea typeface="Hauora Bold"/>
                <a:cs typeface="Hauora Bold"/>
              </a:rPr>
              <a:t>Eliminate</a:t>
            </a:r>
          </a:p>
          <a:p>
            <a:pPr algn="l" lvl="0">
              <a:lnSpc>
                <a:spcPct val="116199"/>
              </a:lnSpc>
            </a:pPr>
            <a:r>
              <a:rPr lang="en-US" sz="1597" b="false" i="false" u="none" strike="noStrike">
                <a:solidFill>
                  <a:srgbClr val="171717"/>
                </a:solidFill>
                <a:latin typeface="Hauora Bold"/>
                <a:ea typeface="Hauora Bold"/>
                <a:cs typeface="Hauora Bold"/>
              </a:rPr>
              <a:t>Tech Stack Bloat</a:t>
            </a:r>
          </a:p>
        </p:txBody>
      </p:sp>
      <p:sp>
        <p:nvSpPr>
          <p:cNvPr name="TextBox 36" id="36"/>
          <p:cNvSpPr txBox="true"/>
          <p:nvPr/>
        </p:nvSpPr>
        <p:spPr>
          <a:xfrm rot="0">
            <a:off x="11607800" y="8102600"/>
            <a:ext cx="2400300" cy="10160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You get expert guidance, not just a help center link. We ensure maximum ROI from day one.</a:t>
            </a:r>
          </a:p>
        </p:txBody>
      </p:sp>
      <p:sp>
        <p:nvSpPr>
          <p:cNvPr name="TextBox 37" id="37"/>
          <p:cNvSpPr txBox="true"/>
          <p:nvPr/>
        </p:nvSpPr>
        <p:spPr>
          <a:xfrm rot="0">
            <a:off x="11607800" y="7366000"/>
            <a:ext cx="2400300" cy="596900"/>
          </a:xfrm>
          <a:prstGeom prst="rect">
            <a:avLst/>
          </a:prstGeom>
        </p:spPr>
        <p:txBody>
          <a:bodyPr anchor="t" rtlCol="false" lIns="0" tIns="0" rIns="0" bIns="0"/>
          <a:lstStyle/>
          <a:p>
            <a:pPr algn="l" lvl="0">
              <a:lnSpc>
                <a:spcPct val="116199"/>
              </a:lnSpc>
            </a:pPr>
            <a:r>
              <a:rPr lang="en-US" sz="1597" b="false" i="false" u="none" strike="noStrike">
                <a:solidFill>
                  <a:srgbClr val="171717"/>
                </a:solidFill>
                <a:latin typeface="Hauora Bold"/>
                <a:ea typeface="Hauora Bold"/>
                <a:cs typeface="Hauora Bold"/>
              </a:rPr>
              <a:t>Strategic</a:t>
            </a:r>
          </a:p>
          <a:p>
            <a:pPr algn="l" lvl="0">
              <a:lnSpc>
                <a:spcPct val="116199"/>
              </a:lnSpc>
            </a:pPr>
            <a:r>
              <a:rPr lang="en-US" sz="1597" b="false" i="false" u="none" strike="noStrike">
                <a:solidFill>
                  <a:srgbClr val="171717"/>
                </a:solidFill>
                <a:latin typeface="Hauora Bold"/>
                <a:ea typeface="Hauora Bold"/>
                <a:cs typeface="Hauora Bold"/>
              </a:rPr>
              <a:t>Growth Partner</a:t>
            </a:r>
          </a:p>
        </p:txBody>
      </p:sp>
      <p:sp>
        <p:nvSpPr>
          <p:cNvPr name="TextBox 38" id="38"/>
          <p:cNvSpPr txBox="true"/>
          <p:nvPr/>
        </p:nvSpPr>
        <p:spPr>
          <a:xfrm rot="0">
            <a:off x="11544300" y="2540000"/>
            <a:ext cx="723900" cy="279400"/>
          </a:xfrm>
          <a:prstGeom prst="rect">
            <a:avLst/>
          </a:prstGeom>
        </p:spPr>
        <p:txBody>
          <a:bodyPr anchor="t" rtlCol="false" lIns="0" tIns="17830" rIns="0" bIns="0"/>
          <a:lstStyle/>
          <a:p>
            <a:pPr algn="ctr" lvl="0">
              <a:lnSpc>
                <a:spcPct val="99600"/>
              </a:lnSpc>
            </a:pPr>
            <a:r>
              <a:rPr lang="en-US" sz="1403" b="false" i="false" u="none" strike="noStrike">
                <a:solidFill>
                  <a:srgbClr val="171717"/>
                </a:solidFill>
                <a:latin typeface="Anuphan SemiBold"/>
                <a:ea typeface="Anuphan SemiBold"/>
                <a:cs typeface="Anuphan SemiBold"/>
              </a:rPr>
              <a:t>KEY 2</a:t>
            </a:r>
          </a:p>
        </p:txBody>
      </p:sp>
      <p:sp>
        <p:nvSpPr>
          <p:cNvPr name="TextBox 39" id="39"/>
          <p:cNvSpPr txBox="true"/>
          <p:nvPr/>
        </p:nvSpPr>
        <p:spPr>
          <a:xfrm rot="0">
            <a:off x="14732000" y="3225800"/>
            <a:ext cx="2501900" cy="8763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Frictionless Rollout</a:t>
            </a:r>
          </a:p>
        </p:txBody>
      </p:sp>
      <p:sp>
        <p:nvSpPr>
          <p:cNvPr name="TextBox 40" id="40"/>
          <p:cNvSpPr txBox="true"/>
          <p:nvPr/>
        </p:nvSpPr>
        <p:spPr>
          <a:xfrm rot="0">
            <a:off x="14935200" y="5880100"/>
            <a:ext cx="2400300" cy="10160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Stop duct-taping your CRM with random plugins. We unify your entire pipeline under one roof.</a:t>
            </a:r>
          </a:p>
        </p:txBody>
      </p:sp>
      <p:sp>
        <p:nvSpPr>
          <p:cNvPr name="TextBox 41" id="41"/>
          <p:cNvSpPr txBox="true"/>
          <p:nvPr/>
        </p:nvSpPr>
        <p:spPr>
          <a:xfrm rot="0">
            <a:off x="14935200" y="5143500"/>
            <a:ext cx="2400300" cy="596900"/>
          </a:xfrm>
          <a:prstGeom prst="rect">
            <a:avLst/>
          </a:prstGeom>
        </p:spPr>
        <p:txBody>
          <a:bodyPr anchor="t" rtlCol="false" lIns="0" tIns="0" rIns="0" bIns="0"/>
          <a:lstStyle/>
          <a:p>
            <a:pPr algn="l" lvl="0">
              <a:lnSpc>
                <a:spcPct val="116199"/>
              </a:lnSpc>
            </a:pPr>
            <a:r>
              <a:rPr lang="en-US" sz="1597" b="false" i="false" u="none" strike="noStrike">
                <a:solidFill>
                  <a:srgbClr val="171717"/>
                </a:solidFill>
                <a:latin typeface="Hauora Bold"/>
                <a:ea typeface="Hauora Bold"/>
                <a:cs typeface="Hauora Bold"/>
              </a:rPr>
              <a:t>The Ultimate</a:t>
            </a:r>
          </a:p>
          <a:p>
            <a:pPr algn="l" lvl="0">
              <a:lnSpc>
                <a:spcPct val="116199"/>
              </a:lnSpc>
            </a:pPr>
            <a:r>
              <a:rPr lang="en-US" sz="1597" b="false" i="false" u="none" strike="noStrike">
                <a:solidFill>
                  <a:srgbClr val="171717"/>
                </a:solidFill>
                <a:latin typeface="Hauora Bold"/>
                <a:ea typeface="Hauora Bold"/>
                <a:cs typeface="Hauora Bold"/>
              </a:rPr>
              <a:t>Revenue Engine</a:t>
            </a:r>
          </a:p>
        </p:txBody>
      </p:sp>
      <p:sp>
        <p:nvSpPr>
          <p:cNvPr name="TextBox 42" id="42"/>
          <p:cNvSpPr txBox="true"/>
          <p:nvPr/>
        </p:nvSpPr>
        <p:spPr>
          <a:xfrm rot="0">
            <a:off x="14909800" y="8102600"/>
            <a:ext cx="2438400" cy="10160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You get a dedicated RevOps expert, not an automated bot. We are fully invested in helping you win more deals.</a:t>
            </a:r>
          </a:p>
        </p:txBody>
      </p:sp>
      <p:sp>
        <p:nvSpPr>
          <p:cNvPr name="TextBox 43" id="43"/>
          <p:cNvSpPr txBox="true"/>
          <p:nvPr/>
        </p:nvSpPr>
        <p:spPr>
          <a:xfrm rot="0">
            <a:off x="14935200" y="7366000"/>
            <a:ext cx="2400300" cy="596900"/>
          </a:xfrm>
          <a:prstGeom prst="rect">
            <a:avLst/>
          </a:prstGeom>
        </p:spPr>
        <p:txBody>
          <a:bodyPr anchor="t" rtlCol="false" lIns="0" tIns="0" rIns="0" bIns="0"/>
          <a:lstStyle/>
          <a:p>
            <a:pPr algn="l" lvl="0">
              <a:lnSpc>
                <a:spcPct val="116199"/>
              </a:lnSpc>
            </a:pPr>
            <a:r>
              <a:rPr lang="en-US" sz="1597" b="false" i="false" u="none" strike="noStrike">
                <a:solidFill>
                  <a:srgbClr val="171717"/>
                </a:solidFill>
                <a:latin typeface="Hauora Bold"/>
                <a:ea typeface="Hauora Bold"/>
                <a:cs typeface="Hauora Bold"/>
              </a:rPr>
              <a:t>Dedicated</a:t>
            </a:r>
          </a:p>
          <a:p>
            <a:pPr algn="l" lvl="0">
              <a:lnSpc>
                <a:spcPct val="116199"/>
              </a:lnSpc>
            </a:pPr>
            <a:r>
              <a:rPr lang="en-US" sz="1597" b="false" i="false" u="none" strike="noStrike">
                <a:solidFill>
                  <a:srgbClr val="171717"/>
                </a:solidFill>
                <a:latin typeface="Hauora Bold"/>
                <a:ea typeface="Hauora Bold"/>
                <a:cs typeface="Hauora Bold"/>
              </a:rPr>
              <a:t>Success Team</a:t>
            </a:r>
          </a:p>
        </p:txBody>
      </p:sp>
      <p:sp>
        <p:nvSpPr>
          <p:cNvPr name="TextBox 44" id="44"/>
          <p:cNvSpPr txBox="true"/>
          <p:nvPr/>
        </p:nvSpPr>
        <p:spPr>
          <a:xfrm rot="0">
            <a:off x="14871700" y="2540000"/>
            <a:ext cx="723900" cy="279400"/>
          </a:xfrm>
          <a:prstGeom prst="rect">
            <a:avLst/>
          </a:prstGeom>
        </p:spPr>
        <p:txBody>
          <a:bodyPr anchor="t" rtlCol="false" lIns="0" tIns="17830" rIns="0" bIns="0"/>
          <a:lstStyle/>
          <a:p>
            <a:pPr algn="ctr" lvl="0">
              <a:lnSpc>
                <a:spcPct val="99600"/>
              </a:lnSpc>
            </a:pPr>
            <a:r>
              <a:rPr lang="en-US" sz="1403" b="false" i="false" u="none" strike="noStrike">
                <a:solidFill>
                  <a:srgbClr val="171717"/>
                </a:solidFill>
                <a:latin typeface="Anuphan SemiBold"/>
                <a:ea typeface="Anuphan SemiBold"/>
                <a:cs typeface="Anuphan SemiBold"/>
              </a:rPr>
              <a:t>KEY 3</a:t>
            </a:r>
          </a:p>
        </p:txBody>
      </p:sp>
    </p:spTree>
  </p:cSld>
  <p:clrMapOvr>
    <a:masterClrMapping/>
  </p:clrMapOvr>
</p:sld>
</file>

<file path=ppt/slides/slide10.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762000" y="698500"/>
            <a:ext cx="495300" cy="2794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10401300" y="546100"/>
            <a:ext cx="7162800" cy="5461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a:off x="15608300" y="546100"/>
            <a:ext cx="1943100" cy="546100"/>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a:off x="17119600" y="673100"/>
            <a:ext cx="304800" cy="304800"/>
          </a:xfrm>
          <a:prstGeom prst="rect">
            <a:avLst/>
          </a:prstGeom>
        </p:spPr>
      </p:pic>
      <p:pic>
        <p:nvPicPr>
          <p:cNvPr name="Picture 6" id="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a:off x="2108200" y="6362700"/>
            <a:ext cx="152400" cy="152400"/>
          </a:xfrm>
          <a:prstGeom prst="rect">
            <a:avLst/>
          </a:prstGeom>
        </p:spPr>
      </p:pic>
      <p:pic>
        <p:nvPicPr>
          <p:cNvPr name="Picture 7" id="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199999">
            <a:off x="952500" y="8432800"/>
            <a:ext cx="2463800" cy="25400"/>
          </a:xfrm>
          <a:prstGeom prst="rect">
            <a:avLst/>
          </a:prstGeom>
        </p:spPr>
      </p:pic>
      <p:pic>
        <p:nvPicPr>
          <p:cNvPr name="Picture 8" id="8"/>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199999">
            <a:off x="952500" y="4800600"/>
            <a:ext cx="2463800" cy="25400"/>
          </a:xfrm>
          <a:prstGeom prst="rect">
            <a:avLst/>
          </a:prstGeom>
        </p:spPr>
      </p:pic>
      <p:pic>
        <p:nvPicPr>
          <p:cNvPr name="Picture 9" id="9"/>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5588000" y="6362700"/>
            <a:ext cx="152400" cy="152400"/>
          </a:xfrm>
          <a:prstGeom prst="rect">
            <a:avLst/>
          </a:prstGeom>
        </p:spPr>
      </p:pic>
      <p:pic>
        <p:nvPicPr>
          <p:cNvPr name="Picture 10" id="10"/>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200000">
            <a:off x="4432300" y="8432800"/>
            <a:ext cx="2463800" cy="25400"/>
          </a:xfrm>
          <a:prstGeom prst="rect">
            <a:avLst/>
          </a:prstGeom>
        </p:spPr>
      </p:pic>
      <p:pic>
        <p:nvPicPr>
          <p:cNvPr name="Picture 11" id="11"/>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200000">
            <a:off x="4432300" y="4800600"/>
            <a:ext cx="2463800" cy="25400"/>
          </a:xfrm>
          <a:prstGeom prst="rect">
            <a:avLst/>
          </a:prstGeom>
        </p:spPr>
      </p:pic>
      <p:pic>
        <p:nvPicPr>
          <p:cNvPr name="Picture 12" id="12"/>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9067800" y="6362700"/>
            <a:ext cx="152400" cy="152400"/>
          </a:xfrm>
          <a:prstGeom prst="rect">
            <a:avLst/>
          </a:prstGeom>
        </p:spPr>
      </p:pic>
      <p:pic>
        <p:nvPicPr>
          <p:cNvPr name="Picture 13" id="1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200000">
            <a:off x="7912100" y="8432800"/>
            <a:ext cx="2463800" cy="25400"/>
          </a:xfrm>
          <a:prstGeom prst="rect">
            <a:avLst/>
          </a:prstGeom>
        </p:spPr>
      </p:pic>
      <p:pic>
        <p:nvPicPr>
          <p:cNvPr name="Picture 14" id="14"/>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200000">
            <a:off x="7912100" y="4800600"/>
            <a:ext cx="2463800" cy="25400"/>
          </a:xfrm>
          <a:prstGeom prst="rect">
            <a:avLst/>
          </a:prstGeom>
        </p:spPr>
      </p:pic>
      <p:pic>
        <p:nvPicPr>
          <p:cNvPr name="Picture 15" id="15"/>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12547600" y="6362700"/>
            <a:ext cx="152400" cy="152400"/>
          </a:xfrm>
          <a:prstGeom prst="rect">
            <a:avLst/>
          </a:prstGeom>
        </p:spPr>
      </p:pic>
      <p:pic>
        <p:nvPicPr>
          <p:cNvPr name="Picture 16" id="16"/>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6200000">
            <a:off x="11391900" y="8432800"/>
            <a:ext cx="2463800" cy="25400"/>
          </a:xfrm>
          <a:prstGeom prst="rect">
            <a:avLst/>
          </a:prstGeom>
        </p:spPr>
      </p:pic>
      <p:pic>
        <p:nvPicPr>
          <p:cNvPr name="Picture 17" id="1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6200000">
            <a:off x="11391900" y="4800600"/>
            <a:ext cx="2463800" cy="25400"/>
          </a:xfrm>
          <a:prstGeom prst="rect">
            <a:avLst/>
          </a:prstGeom>
        </p:spPr>
      </p:pic>
      <p:pic>
        <p:nvPicPr>
          <p:cNvPr name="Picture 18" id="18"/>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a:off x="16027400" y="6362700"/>
            <a:ext cx="152400" cy="152400"/>
          </a:xfrm>
          <a:prstGeom prst="rect">
            <a:avLst/>
          </a:prstGeom>
        </p:spPr>
      </p:pic>
      <p:pic>
        <p:nvPicPr>
          <p:cNvPr name="Picture 19" id="1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6200000">
            <a:off x="14871700" y="8432800"/>
            <a:ext cx="2463800" cy="25400"/>
          </a:xfrm>
          <a:prstGeom prst="rect">
            <a:avLst/>
          </a:prstGeom>
        </p:spPr>
      </p:pic>
      <p:pic>
        <p:nvPicPr>
          <p:cNvPr name="Picture 20" id="20"/>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6200000">
            <a:off x="14871700" y="4800600"/>
            <a:ext cx="2463800" cy="25400"/>
          </a:xfrm>
          <a:prstGeom prst="rect">
            <a:avLst/>
          </a:prstGeom>
        </p:spPr>
      </p:pic>
      <p:pic>
        <p:nvPicPr>
          <p:cNvPr name="Picture 21" id="21"/>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10799999">
            <a:off x="2235200" y="6426200"/>
            <a:ext cx="3378200" cy="25400"/>
          </a:xfrm>
          <a:prstGeom prst="rect">
            <a:avLst/>
          </a:prstGeom>
        </p:spPr>
      </p:pic>
      <p:pic>
        <p:nvPicPr>
          <p:cNvPr name="Picture 22" id="22"/>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0799999">
            <a:off x="5715000" y="6426200"/>
            <a:ext cx="3378200" cy="25400"/>
          </a:xfrm>
          <a:prstGeom prst="rect">
            <a:avLst/>
          </a:prstGeom>
        </p:spPr>
      </p:pic>
      <p:pic>
        <p:nvPicPr>
          <p:cNvPr name="Picture 23" id="23"/>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10799999">
            <a:off x="9194800" y="6426200"/>
            <a:ext cx="3378200" cy="25400"/>
          </a:xfrm>
          <a:prstGeom prst="rect">
            <a:avLst/>
          </a:prstGeom>
        </p:spPr>
      </p:pic>
      <p:pic>
        <p:nvPicPr>
          <p:cNvPr name="Picture 24" id="24"/>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0799999">
            <a:off x="12674600" y="6426200"/>
            <a:ext cx="3378200" cy="25400"/>
          </a:xfrm>
          <a:prstGeom prst="rect">
            <a:avLst/>
          </a:prstGeom>
        </p:spPr>
      </p:pic>
      <p:pic>
        <p:nvPicPr>
          <p:cNvPr name="Picture 25" id="25"/>
          <p:cNvPicPr>
            <a:picLocks noChangeAspect="true"/>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0">
            <a:off x="2184400" y="7835900"/>
            <a:ext cx="3263900" cy="1371600"/>
          </a:xfrm>
          <a:prstGeom prst="rect">
            <a:avLst/>
          </a:prstGeom>
        </p:spPr>
      </p:pic>
      <p:pic>
        <p:nvPicPr>
          <p:cNvPr name="Picture 26" id="26"/>
          <p:cNvPicPr>
            <a:picLocks noChangeAspect="true"/>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0">
            <a:off x="2336800" y="7988300"/>
            <a:ext cx="673100" cy="1066800"/>
          </a:xfrm>
          <a:prstGeom prst="rect">
            <a:avLst/>
          </a:prstGeom>
        </p:spPr>
      </p:pic>
      <p:pic>
        <p:nvPicPr>
          <p:cNvPr name="Picture 27" id="27"/>
          <p:cNvPicPr>
            <a:picLocks noChangeAspect="true"/>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rot="0">
            <a:off x="4152900" y="4000500"/>
            <a:ext cx="3263900" cy="1371600"/>
          </a:xfrm>
          <a:prstGeom prst="rect">
            <a:avLst/>
          </a:prstGeom>
        </p:spPr>
      </p:pic>
      <p:pic>
        <p:nvPicPr>
          <p:cNvPr name="Picture 28" id="28"/>
          <p:cNvPicPr>
            <a:picLocks noChangeAspect="true"/>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0">
            <a:off x="4305300" y="4152900"/>
            <a:ext cx="673100" cy="1066800"/>
          </a:xfrm>
          <a:prstGeom prst="rect">
            <a:avLst/>
          </a:prstGeom>
        </p:spPr>
      </p:pic>
      <p:pic>
        <p:nvPicPr>
          <p:cNvPr name="Picture 29" id="29"/>
          <p:cNvPicPr>
            <a:picLocks noChangeAspect="true"/>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rot="0">
            <a:off x="7391400" y="7213600"/>
            <a:ext cx="3263900" cy="1371600"/>
          </a:xfrm>
          <a:prstGeom prst="rect">
            <a:avLst/>
          </a:prstGeom>
        </p:spPr>
      </p:pic>
      <p:pic>
        <p:nvPicPr>
          <p:cNvPr name="Picture 30" id="30"/>
          <p:cNvPicPr>
            <a:picLocks noChangeAspect="true"/>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0">
            <a:off x="7543800" y="7366000"/>
            <a:ext cx="673100" cy="1066800"/>
          </a:xfrm>
          <a:prstGeom prst="rect">
            <a:avLst/>
          </a:prstGeom>
        </p:spPr>
      </p:pic>
      <p:pic>
        <p:nvPicPr>
          <p:cNvPr name="Picture 31" id="31"/>
          <p:cNvPicPr>
            <a:picLocks noChangeAspect="true"/>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0">
            <a:off x="10642600" y="4673600"/>
            <a:ext cx="3263900" cy="1371600"/>
          </a:xfrm>
          <a:prstGeom prst="rect">
            <a:avLst/>
          </a:prstGeom>
        </p:spPr>
      </p:pic>
      <p:pic>
        <p:nvPicPr>
          <p:cNvPr name="Picture 32" id="32"/>
          <p:cNvPicPr>
            <a:picLocks noChangeAspect="true"/>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rot="0">
            <a:off x="10795000" y="4826000"/>
            <a:ext cx="673100" cy="1066800"/>
          </a:xfrm>
          <a:prstGeom prst="rect">
            <a:avLst/>
          </a:prstGeom>
        </p:spPr>
      </p:pic>
      <p:pic>
        <p:nvPicPr>
          <p:cNvPr name="Picture 33" id="33"/>
          <p:cNvPicPr>
            <a:picLocks noChangeAspect="true"/>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rot="0">
            <a:off x="4394200" y="4445000"/>
            <a:ext cx="482600" cy="482600"/>
          </a:xfrm>
          <a:prstGeom prst="rect">
            <a:avLst/>
          </a:prstGeom>
        </p:spPr>
      </p:pic>
      <p:pic>
        <p:nvPicPr>
          <p:cNvPr name="Picture 34" id="34"/>
          <p:cNvPicPr>
            <a:picLocks noChangeAspect="true"/>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rot="0">
            <a:off x="7632700" y="7645400"/>
            <a:ext cx="482600" cy="482600"/>
          </a:xfrm>
          <a:prstGeom prst="rect">
            <a:avLst/>
          </a:prstGeom>
        </p:spPr>
      </p:pic>
      <p:pic>
        <p:nvPicPr>
          <p:cNvPr name="Picture 35" id="35"/>
          <p:cNvPicPr>
            <a:picLocks noChangeAspect="true"/>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rot="0">
            <a:off x="2425700" y="8280400"/>
            <a:ext cx="482600" cy="482600"/>
          </a:xfrm>
          <a:prstGeom prst="rect">
            <a:avLst/>
          </a:prstGeom>
        </p:spPr>
      </p:pic>
      <p:pic>
        <p:nvPicPr>
          <p:cNvPr name="Picture 36" id="36"/>
          <p:cNvPicPr>
            <a:picLocks noChangeAspect="true"/>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rot="0">
            <a:off x="10871200" y="5118100"/>
            <a:ext cx="520700" cy="520700"/>
          </a:xfrm>
          <a:prstGeom prst="rect">
            <a:avLst/>
          </a:prstGeom>
        </p:spPr>
      </p:pic>
      <p:pic>
        <p:nvPicPr>
          <p:cNvPr name="Picture 37" id="37"/>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0799999">
            <a:off x="16154400" y="6426200"/>
            <a:ext cx="3378200" cy="25400"/>
          </a:xfrm>
          <a:prstGeom prst="rect">
            <a:avLst/>
          </a:prstGeom>
        </p:spPr>
      </p:pic>
      <p:pic>
        <p:nvPicPr>
          <p:cNvPr name="Picture 38" id="38"/>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10799999">
            <a:off x="-1231900" y="6426200"/>
            <a:ext cx="3378200" cy="25400"/>
          </a:xfrm>
          <a:prstGeom prst="rect">
            <a:avLst/>
          </a:prstGeom>
        </p:spPr>
      </p:pic>
      <p:sp>
        <p:nvSpPr>
          <p:cNvPr name="TextBox 39" id="39"/>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171717"/>
                </a:solidFill>
                <a:latin typeface="Hauora SemiBold"/>
                <a:ea typeface="Hauora SemiBold"/>
                <a:cs typeface="Hauora SemiBold"/>
              </a:rPr>
              <a:t>MIRI Company</a:t>
            </a:r>
          </a:p>
        </p:txBody>
      </p:sp>
      <p:sp>
        <p:nvSpPr>
          <p:cNvPr name="TextBox 40" id="40"/>
          <p:cNvSpPr txBox="true"/>
          <p:nvPr/>
        </p:nvSpPr>
        <p:spPr>
          <a:xfrm rot="0">
            <a:off x="2768600" y="1435100"/>
            <a:ext cx="12738100" cy="1371600"/>
          </a:xfrm>
          <a:prstGeom prst="rect">
            <a:avLst/>
          </a:prstGeom>
        </p:spPr>
        <p:txBody>
          <a:bodyPr anchor="t" rtlCol="false" lIns="0" tIns="96520" rIns="0" bIns="0"/>
          <a:lstStyle/>
          <a:p>
            <a:pPr algn="ctr" lvl="0">
              <a:lnSpc>
                <a:spcPct val="99600"/>
              </a:lnSpc>
            </a:pPr>
            <a:r>
              <a:rPr lang="en-US" sz="7598" b="false" i="false" u="none" strike="noStrike">
                <a:solidFill>
                  <a:srgbClr val="171717"/>
                </a:solidFill>
                <a:latin typeface="Anuphan SemiBold"/>
                <a:ea typeface="Anuphan SemiBold"/>
                <a:cs typeface="Anuphan SemiBold"/>
              </a:rPr>
              <a:t>Seamless Onboarding</a:t>
            </a:r>
          </a:p>
        </p:txBody>
      </p:sp>
      <p:sp>
        <p:nvSpPr>
          <p:cNvPr name="TextBox 41" id="41"/>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42" id="42"/>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43" id="43"/>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44" id="44"/>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45" id="45"/>
          <p:cNvSpPr txBox="true"/>
          <p:nvPr/>
        </p:nvSpPr>
        <p:spPr>
          <a:xfrm rot="0">
            <a:off x="3416300" y="2832100"/>
            <a:ext cx="11468100" cy="444500"/>
          </a:xfrm>
          <a:prstGeom prst="rect">
            <a:avLst/>
          </a:prstGeom>
        </p:spPr>
        <p:txBody>
          <a:bodyPr anchor="t" rtlCol="false" lIns="0" tIns="0" rIns="0" bIns="0"/>
          <a:lstStyle/>
          <a:p>
            <a:pPr algn="ctr" lvl="0">
              <a:lnSpc>
                <a:spcPct val="116199"/>
              </a:lnSpc>
            </a:pPr>
            <a:r>
              <a:rPr lang="en-US" sz="2400" b="false" i="false" u="none" strike="noStrike">
                <a:solidFill>
                  <a:srgbClr val="171717"/>
                </a:solidFill>
                <a:latin typeface="Hauora Regular"/>
                <a:ea typeface="Hauora Regular"/>
                <a:cs typeface="Hauora Regular"/>
              </a:rPr>
              <a:t>Revenue-ready in days, not months. Zero IT bottlenecks or pipeline downtime.</a:t>
            </a:r>
          </a:p>
        </p:txBody>
      </p:sp>
      <p:sp>
        <p:nvSpPr>
          <p:cNvPr name="TextBox 46" id="46"/>
          <p:cNvSpPr txBox="true"/>
          <p:nvPr/>
        </p:nvSpPr>
        <p:spPr>
          <a:xfrm rot="0">
            <a:off x="1701800" y="6616700"/>
            <a:ext cx="965200" cy="279400"/>
          </a:xfrm>
          <a:prstGeom prst="rect">
            <a:avLst/>
          </a:prstGeom>
        </p:spPr>
        <p:txBody>
          <a:bodyPr anchor="t" rtlCol="false" lIns="0" tIns="17830" rIns="0" bIns="0"/>
          <a:lstStyle/>
          <a:p>
            <a:pPr algn="ctr" lvl="0">
              <a:lnSpc>
                <a:spcPct val="99600"/>
              </a:lnSpc>
            </a:pPr>
            <a:r>
              <a:rPr lang="en-US" sz="1403" b="false" i="false" u="none" strike="noStrike">
                <a:solidFill>
                  <a:srgbClr val="171717"/>
                </a:solidFill>
                <a:latin typeface="Anuphan SemiBold"/>
                <a:ea typeface="Anuphan SemiBold"/>
                <a:cs typeface="Anuphan SemiBold"/>
              </a:rPr>
              <a:t>WEEK 1</a:t>
            </a:r>
          </a:p>
        </p:txBody>
      </p:sp>
      <p:sp>
        <p:nvSpPr>
          <p:cNvPr name="TextBox 47" id="47"/>
          <p:cNvSpPr txBox="true"/>
          <p:nvPr/>
        </p:nvSpPr>
        <p:spPr>
          <a:xfrm rot="0">
            <a:off x="5181600" y="6616700"/>
            <a:ext cx="965200" cy="279400"/>
          </a:xfrm>
          <a:prstGeom prst="rect">
            <a:avLst/>
          </a:prstGeom>
        </p:spPr>
        <p:txBody>
          <a:bodyPr anchor="t" rtlCol="false" lIns="0" tIns="17830" rIns="0" bIns="0"/>
          <a:lstStyle/>
          <a:p>
            <a:pPr algn="ctr" lvl="0">
              <a:lnSpc>
                <a:spcPct val="99600"/>
              </a:lnSpc>
            </a:pPr>
            <a:r>
              <a:rPr lang="en-US" sz="1403" b="false" i="false" u="none" strike="noStrike">
                <a:solidFill>
                  <a:srgbClr val="171717"/>
                </a:solidFill>
                <a:latin typeface="Anuphan SemiBold"/>
                <a:ea typeface="Anuphan SemiBold"/>
                <a:cs typeface="Anuphan SemiBold"/>
              </a:rPr>
              <a:t>WEEK 2</a:t>
            </a:r>
          </a:p>
        </p:txBody>
      </p:sp>
      <p:sp>
        <p:nvSpPr>
          <p:cNvPr name="TextBox 48" id="48"/>
          <p:cNvSpPr txBox="true"/>
          <p:nvPr/>
        </p:nvSpPr>
        <p:spPr>
          <a:xfrm rot="0">
            <a:off x="8661400" y="6616700"/>
            <a:ext cx="965200" cy="279400"/>
          </a:xfrm>
          <a:prstGeom prst="rect">
            <a:avLst/>
          </a:prstGeom>
        </p:spPr>
        <p:txBody>
          <a:bodyPr anchor="t" rtlCol="false" lIns="0" tIns="17830" rIns="0" bIns="0"/>
          <a:lstStyle/>
          <a:p>
            <a:pPr algn="ctr" lvl="0">
              <a:lnSpc>
                <a:spcPct val="99600"/>
              </a:lnSpc>
            </a:pPr>
            <a:r>
              <a:rPr lang="en-US" sz="1403" b="false" i="false" u="none" strike="noStrike">
                <a:solidFill>
                  <a:srgbClr val="171717"/>
                </a:solidFill>
                <a:latin typeface="Anuphan SemiBold"/>
                <a:ea typeface="Anuphan SemiBold"/>
                <a:cs typeface="Anuphan SemiBold"/>
              </a:rPr>
              <a:t>WEEK 3</a:t>
            </a:r>
          </a:p>
        </p:txBody>
      </p:sp>
      <p:sp>
        <p:nvSpPr>
          <p:cNvPr name="TextBox 49" id="49"/>
          <p:cNvSpPr txBox="true"/>
          <p:nvPr/>
        </p:nvSpPr>
        <p:spPr>
          <a:xfrm rot="0">
            <a:off x="12141200" y="6616700"/>
            <a:ext cx="965200" cy="279400"/>
          </a:xfrm>
          <a:prstGeom prst="rect">
            <a:avLst/>
          </a:prstGeom>
        </p:spPr>
        <p:txBody>
          <a:bodyPr anchor="t" rtlCol="false" lIns="0" tIns="17830" rIns="0" bIns="0"/>
          <a:lstStyle/>
          <a:p>
            <a:pPr algn="ctr" lvl="0">
              <a:lnSpc>
                <a:spcPct val="99600"/>
              </a:lnSpc>
            </a:pPr>
            <a:r>
              <a:rPr lang="en-US" sz="1403" b="false" i="false" u="none" strike="noStrike">
                <a:solidFill>
                  <a:srgbClr val="171717"/>
                </a:solidFill>
                <a:latin typeface="Anuphan SemiBold"/>
                <a:ea typeface="Anuphan SemiBold"/>
                <a:cs typeface="Anuphan SemiBold"/>
              </a:rPr>
              <a:t>WEEK 4</a:t>
            </a:r>
          </a:p>
        </p:txBody>
      </p:sp>
      <p:sp>
        <p:nvSpPr>
          <p:cNvPr name="TextBox 50" id="50"/>
          <p:cNvSpPr txBox="true"/>
          <p:nvPr/>
        </p:nvSpPr>
        <p:spPr>
          <a:xfrm rot="0">
            <a:off x="15621000" y="6616700"/>
            <a:ext cx="965200" cy="279400"/>
          </a:xfrm>
          <a:prstGeom prst="rect">
            <a:avLst/>
          </a:prstGeom>
        </p:spPr>
        <p:txBody>
          <a:bodyPr anchor="t" rtlCol="false" lIns="0" tIns="17830" rIns="0" bIns="0"/>
          <a:lstStyle/>
          <a:p>
            <a:pPr algn="ctr" lvl="0">
              <a:lnSpc>
                <a:spcPct val="99600"/>
              </a:lnSpc>
            </a:pPr>
            <a:r>
              <a:rPr lang="en-US" sz="1403" b="false" i="false" u="none" strike="noStrike">
                <a:solidFill>
                  <a:srgbClr val="171717"/>
                </a:solidFill>
                <a:latin typeface="Anuphan SemiBold"/>
                <a:ea typeface="Anuphan SemiBold"/>
                <a:cs typeface="Anuphan SemiBold"/>
              </a:rPr>
              <a:t>WEEK 5</a:t>
            </a:r>
          </a:p>
        </p:txBody>
      </p:sp>
      <p:sp>
        <p:nvSpPr>
          <p:cNvPr name="TextBox 51" id="51"/>
          <p:cNvSpPr txBox="true"/>
          <p:nvPr/>
        </p:nvSpPr>
        <p:spPr>
          <a:xfrm rot="0">
            <a:off x="3111500" y="8674100"/>
            <a:ext cx="2159000" cy="381000"/>
          </a:xfrm>
          <a:prstGeom prst="rect">
            <a:avLst/>
          </a:prstGeom>
        </p:spPr>
        <p:txBody>
          <a:bodyPr anchor="t" rtlCol="false" lIns="0" tIns="0" rIns="0" bIns="0"/>
          <a:lstStyle/>
          <a:p>
            <a:pPr algn="l" lvl="0">
              <a:lnSpc>
                <a:spcPct val="116199"/>
              </a:lnSpc>
            </a:pPr>
            <a:r>
              <a:rPr lang="en-US" sz="1002" b="false" i="false" u="none" strike="noStrike">
                <a:solidFill>
                  <a:srgbClr val="171717"/>
                </a:solidFill>
                <a:latin typeface="Hauora Regular"/>
                <a:ea typeface="Hauora Regular"/>
                <a:cs typeface="Hauora Regular"/>
              </a:rPr>
              <a:t>Lorem ipsum dolor sit amet, consectetur adipiscing elit donec.</a:t>
            </a:r>
          </a:p>
        </p:txBody>
      </p:sp>
      <p:sp>
        <p:nvSpPr>
          <p:cNvPr name="TextBox 52" id="52"/>
          <p:cNvSpPr txBox="true"/>
          <p:nvPr/>
        </p:nvSpPr>
        <p:spPr>
          <a:xfrm rot="0">
            <a:off x="3098800" y="7950200"/>
            <a:ext cx="2260600" cy="635000"/>
          </a:xfrm>
          <a:prstGeom prst="rect">
            <a:avLst/>
          </a:prstGeom>
        </p:spPr>
        <p:txBody>
          <a:bodyPr anchor="t" rtlCol="false" lIns="0" tIns="0" rIns="0" bIns="0"/>
          <a:lstStyle/>
          <a:p>
            <a:pPr algn="l" lvl="0">
              <a:lnSpc>
                <a:spcPct val="116199"/>
              </a:lnSpc>
            </a:pPr>
            <a:r>
              <a:rPr lang="en-US" sz="1717" b="false" i="false" u="none" strike="noStrike">
                <a:solidFill>
                  <a:srgbClr val="171717"/>
                </a:solidFill>
                <a:latin typeface="Hauora Regular"/>
                <a:ea typeface="Hauora Regular"/>
                <a:cs typeface="Hauora Regular"/>
              </a:rPr>
              <a:t>Kickoff &amp;</a:t>
            </a:r>
          </a:p>
          <a:p>
            <a:pPr algn="l" lvl="0">
              <a:lnSpc>
                <a:spcPct val="116199"/>
              </a:lnSpc>
            </a:pPr>
            <a:r>
              <a:rPr lang="en-US" sz="1717" b="false" i="false" u="none" strike="noStrike">
                <a:solidFill>
                  <a:srgbClr val="171717"/>
                </a:solidFill>
                <a:latin typeface="Hauora Regular"/>
                <a:ea typeface="Hauora Regular"/>
                <a:cs typeface="Hauora Regular"/>
              </a:rPr>
              <a:t>Pipeline Mapping</a:t>
            </a:r>
          </a:p>
        </p:txBody>
      </p:sp>
      <p:sp>
        <p:nvSpPr>
          <p:cNvPr name="TextBox 53" id="53"/>
          <p:cNvSpPr txBox="true"/>
          <p:nvPr/>
        </p:nvSpPr>
        <p:spPr>
          <a:xfrm rot="0">
            <a:off x="5080000" y="4826000"/>
            <a:ext cx="2159000" cy="381000"/>
          </a:xfrm>
          <a:prstGeom prst="rect">
            <a:avLst/>
          </a:prstGeom>
        </p:spPr>
        <p:txBody>
          <a:bodyPr anchor="t" rtlCol="false" lIns="0" tIns="0" rIns="0" bIns="0"/>
          <a:lstStyle/>
          <a:p>
            <a:pPr algn="l" lvl="0">
              <a:lnSpc>
                <a:spcPct val="116199"/>
              </a:lnSpc>
            </a:pPr>
            <a:r>
              <a:rPr lang="en-US" sz="1002" b="false" i="false" u="none" strike="noStrike">
                <a:solidFill>
                  <a:srgbClr val="171717"/>
                </a:solidFill>
                <a:latin typeface="Hauora Regular"/>
                <a:ea typeface="Hauora Regular"/>
                <a:cs typeface="Hauora Regular"/>
              </a:rPr>
              <a:t>Lorem ipsum dolor sit amet, consectetur adipiscing elit donec.</a:t>
            </a:r>
          </a:p>
        </p:txBody>
      </p:sp>
      <p:sp>
        <p:nvSpPr>
          <p:cNvPr name="TextBox 54" id="54"/>
          <p:cNvSpPr txBox="true"/>
          <p:nvPr/>
        </p:nvSpPr>
        <p:spPr>
          <a:xfrm rot="0">
            <a:off x="5067300" y="4114800"/>
            <a:ext cx="2260600" cy="635000"/>
          </a:xfrm>
          <a:prstGeom prst="rect">
            <a:avLst/>
          </a:prstGeom>
        </p:spPr>
        <p:txBody>
          <a:bodyPr anchor="t" rtlCol="false" lIns="0" tIns="0" rIns="0" bIns="0"/>
          <a:lstStyle/>
          <a:p>
            <a:pPr algn="l" lvl="0">
              <a:lnSpc>
                <a:spcPct val="116199"/>
              </a:lnSpc>
            </a:pPr>
            <a:r>
              <a:rPr lang="en-US" sz="1717" b="false" i="false" u="none" strike="noStrike">
                <a:solidFill>
                  <a:srgbClr val="171717"/>
                </a:solidFill>
                <a:latin typeface="Hauora Regular"/>
                <a:ea typeface="Hauora Regular"/>
                <a:cs typeface="Hauora Regular"/>
              </a:rPr>
              <a:t>Data Migration</a:t>
            </a:r>
          </a:p>
          <a:p>
            <a:pPr algn="l" lvl="0">
              <a:lnSpc>
                <a:spcPct val="116199"/>
              </a:lnSpc>
            </a:pPr>
            <a:r>
              <a:rPr lang="en-US" sz="1717" b="false" i="false" u="none" strike="noStrike">
                <a:solidFill>
                  <a:srgbClr val="171717"/>
                </a:solidFill>
                <a:latin typeface="Hauora Regular"/>
                <a:ea typeface="Hauora Regular"/>
                <a:cs typeface="Hauora Regular"/>
              </a:rPr>
              <a:t>&amp; Setup</a:t>
            </a:r>
          </a:p>
        </p:txBody>
      </p:sp>
      <p:sp>
        <p:nvSpPr>
          <p:cNvPr name="TextBox 55" id="55"/>
          <p:cNvSpPr txBox="true"/>
          <p:nvPr/>
        </p:nvSpPr>
        <p:spPr>
          <a:xfrm rot="0">
            <a:off x="8318500" y="8039100"/>
            <a:ext cx="2159000" cy="381000"/>
          </a:xfrm>
          <a:prstGeom prst="rect">
            <a:avLst/>
          </a:prstGeom>
        </p:spPr>
        <p:txBody>
          <a:bodyPr anchor="t" rtlCol="false" lIns="0" tIns="0" rIns="0" bIns="0"/>
          <a:lstStyle/>
          <a:p>
            <a:pPr algn="l" lvl="0">
              <a:lnSpc>
                <a:spcPct val="116199"/>
              </a:lnSpc>
            </a:pPr>
            <a:r>
              <a:rPr lang="en-US" sz="1002" b="false" i="false" u="none" strike="noStrike">
                <a:solidFill>
                  <a:srgbClr val="171717"/>
                </a:solidFill>
                <a:latin typeface="Hauora Regular"/>
                <a:ea typeface="Hauora Regular"/>
                <a:cs typeface="Hauora Regular"/>
              </a:rPr>
              <a:t>Lorem ipsum dolor sit amet, consectetur adipiscing elit donec.</a:t>
            </a:r>
          </a:p>
        </p:txBody>
      </p:sp>
      <p:sp>
        <p:nvSpPr>
          <p:cNvPr name="TextBox 56" id="56"/>
          <p:cNvSpPr txBox="true"/>
          <p:nvPr/>
        </p:nvSpPr>
        <p:spPr>
          <a:xfrm rot="0">
            <a:off x="8318500" y="7315200"/>
            <a:ext cx="2260600" cy="635000"/>
          </a:xfrm>
          <a:prstGeom prst="rect">
            <a:avLst/>
          </a:prstGeom>
        </p:spPr>
        <p:txBody>
          <a:bodyPr anchor="t" rtlCol="false" lIns="0" tIns="0" rIns="0" bIns="0"/>
          <a:lstStyle/>
          <a:p>
            <a:pPr algn="l" lvl="0">
              <a:lnSpc>
                <a:spcPct val="116199"/>
              </a:lnSpc>
            </a:pPr>
            <a:r>
              <a:rPr lang="en-US" sz="1717" b="false" i="false" u="none" strike="noStrike">
                <a:solidFill>
                  <a:srgbClr val="171717"/>
                </a:solidFill>
                <a:latin typeface="Hauora Regular"/>
                <a:ea typeface="Hauora Regular"/>
                <a:cs typeface="Hauora Regular"/>
              </a:rPr>
              <a:t>Team Training</a:t>
            </a:r>
          </a:p>
          <a:p>
            <a:pPr algn="l" lvl="0">
              <a:lnSpc>
                <a:spcPct val="116199"/>
              </a:lnSpc>
            </a:pPr>
            <a:r>
              <a:rPr lang="en-US" sz="1717" b="false" i="false" u="none" strike="noStrike">
                <a:solidFill>
                  <a:srgbClr val="171717"/>
                </a:solidFill>
                <a:latin typeface="Hauora Regular"/>
                <a:ea typeface="Hauora Regular"/>
                <a:cs typeface="Hauora Regular"/>
              </a:rPr>
              <a:t>&amp; Launch</a:t>
            </a:r>
          </a:p>
        </p:txBody>
      </p:sp>
      <p:sp>
        <p:nvSpPr>
          <p:cNvPr name="TextBox 57" id="57"/>
          <p:cNvSpPr txBox="true"/>
          <p:nvPr/>
        </p:nvSpPr>
        <p:spPr>
          <a:xfrm rot="0">
            <a:off x="11569700" y="5499100"/>
            <a:ext cx="2159000" cy="381000"/>
          </a:xfrm>
          <a:prstGeom prst="rect">
            <a:avLst/>
          </a:prstGeom>
        </p:spPr>
        <p:txBody>
          <a:bodyPr anchor="t" rtlCol="false" lIns="0" tIns="0" rIns="0" bIns="0"/>
          <a:lstStyle/>
          <a:p>
            <a:pPr algn="l" lvl="0">
              <a:lnSpc>
                <a:spcPct val="116199"/>
              </a:lnSpc>
            </a:pPr>
            <a:r>
              <a:rPr lang="en-US" sz="1002" b="false" i="false" u="none" strike="noStrike">
                <a:solidFill>
                  <a:srgbClr val="FAF8F9"/>
                </a:solidFill>
                <a:latin typeface="Hauora Regular"/>
                <a:ea typeface="Hauora Regular"/>
                <a:cs typeface="Hauora Regular"/>
              </a:rPr>
              <a:t>Lorem ipsum dolor sit amet, consectetur adipiscing elit donec.</a:t>
            </a:r>
          </a:p>
        </p:txBody>
      </p:sp>
      <p:sp>
        <p:nvSpPr>
          <p:cNvPr name="TextBox 58" id="58"/>
          <p:cNvSpPr txBox="true"/>
          <p:nvPr/>
        </p:nvSpPr>
        <p:spPr>
          <a:xfrm rot="0">
            <a:off x="11557000" y="4787900"/>
            <a:ext cx="2260600" cy="635000"/>
          </a:xfrm>
          <a:prstGeom prst="rect">
            <a:avLst/>
          </a:prstGeom>
        </p:spPr>
        <p:txBody>
          <a:bodyPr anchor="t" rtlCol="false" lIns="0" tIns="0" rIns="0" bIns="0"/>
          <a:lstStyle/>
          <a:p>
            <a:pPr algn="l" lvl="0">
              <a:lnSpc>
                <a:spcPct val="116199"/>
              </a:lnSpc>
            </a:pPr>
            <a:r>
              <a:rPr lang="en-US" sz="1717" b="false" i="false" u="none" strike="noStrike">
                <a:solidFill>
                  <a:srgbClr val="FAF8F9"/>
                </a:solidFill>
                <a:latin typeface="Hauora Regular"/>
                <a:ea typeface="Hauora Regular"/>
                <a:cs typeface="Hauora Regular"/>
              </a:rPr>
              <a:t>Performance</a:t>
            </a:r>
          </a:p>
          <a:p>
            <a:pPr algn="l" lvl="0">
              <a:lnSpc>
                <a:spcPct val="116199"/>
              </a:lnSpc>
            </a:pPr>
            <a:r>
              <a:rPr lang="en-US" sz="1717" b="false" i="false" u="none" strike="noStrike">
                <a:solidFill>
                  <a:srgbClr val="FAF8F9"/>
                </a:solidFill>
                <a:latin typeface="Hauora Regular"/>
                <a:ea typeface="Hauora Regular"/>
                <a:cs typeface="Hauora Regular"/>
              </a:rPr>
              <a:t>Review &amp; Scaling</a:t>
            </a:r>
          </a:p>
        </p:txBody>
      </p:sp>
    </p:spTree>
  </p:cSld>
  <p:clrMapOvr>
    <a:masterClrMapping/>
  </p:clrMapOvr>
</p:sld>
</file>

<file path=ppt/slides/slide11.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762000" y="698500"/>
            <a:ext cx="495300" cy="2794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10401300" y="546100"/>
            <a:ext cx="7162800" cy="5461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a:off x="15608300" y="546100"/>
            <a:ext cx="1943100" cy="546100"/>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a:off x="17119600" y="673100"/>
            <a:ext cx="304800" cy="304800"/>
          </a:xfrm>
          <a:prstGeom prst="rect">
            <a:avLst/>
          </a:prstGeom>
        </p:spPr>
      </p:pic>
      <p:pic>
        <p:nvPicPr>
          <p:cNvPr name="Picture 6" id="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a:off x="2476500" y="4051300"/>
            <a:ext cx="4102100" cy="5664200"/>
          </a:xfrm>
          <a:prstGeom prst="rect">
            <a:avLst/>
          </a:prstGeom>
        </p:spPr>
      </p:pic>
      <p:pic>
        <p:nvPicPr>
          <p:cNvPr name="Picture 7" id="7"/>
          <p:cNvPicPr>
            <a:picLocks noChangeAspect="true"/>
          </p:cNvPicPr>
          <p:nvPr/>
        </p:nvPicPr>
        <p:blipFill>
          <a:blip r:embed="rId12">
            <a:alphaModFix amt="50000"/>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a:off x="2870200" y="9029700"/>
            <a:ext cx="2146300" cy="444500"/>
          </a:xfrm>
          <a:prstGeom prst="rect">
            <a:avLst/>
          </a:prstGeom>
        </p:spPr>
      </p:pic>
      <p:pic>
        <p:nvPicPr>
          <p:cNvPr name="Picture 8" id="8"/>
          <p:cNvPicPr>
            <a:picLocks noChangeAspect="true"/>
          </p:cNvPicPr>
          <p:nvPr/>
        </p:nvPicPr>
        <p:blipFill>
          <a:blip r:embed="rId14">
            <a:alphaModFix amt="50000"/>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4508500" y="9055100"/>
            <a:ext cx="393700" cy="393700"/>
          </a:xfrm>
          <a:prstGeom prst="rect">
            <a:avLst/>
          </a:prstGeom>
        </p:spPr>
      </p:pic>
      <p:pic>
        <p:nvPicPr>
          <p:cNvPr name="Picture 9" id="9"/>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a:off x="7099300" y="4051300"/>
            <a:ext cx="4102100" cy="5626100"/>
          </a:xfrm>
          <a:prstGeom prst="rect">
            <a:avLst/>
          </a:prstGeom>
        </p:spPr>
      </p:pic>
      <p:pic>
        <p:nvPicPr>
          <p:cNvPr name="Picture 10" id="10"/>
          <p:cNvPicPr>
            <a:picLocks noChangeAspect="true"/>
          </p:cNvPicPr>
          <p:nvPr/>
        </p:nvPicPr>
        <p:blipFill>
          <a:blip r:embed="rId18">
            <a:alphaModFix amt="50000"/>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a:off x="7480300" y="9029700"/>
            <a:ext cx="2146300" cy="444500"/>
          </a:xfrm>
          <a:prstGeom prst="rect">
            <a:avLst/>
          </a:prstGeom>
        </p:spPr>
      </p:pic>
      <p:pic>
        <p:nvPicPr>
          <p:cNvPr name="Picture 11" id="11"/>
          <p:cNvPicPr>
            <a:picLocks noChangeAspect="true"/>
          </p:cNvPicPr>
          <p:nvPr/>
        </p:nvPicPr>
        <p:blipFill>
          <a:blip r:embed="rId20">
            <a:alphaModFix amt="5000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0">
            <a:off x="9118600" y="9055100"/>
            <a:ext cx="393700" cy="393700"/>
          </a:xfrm>
          <a:prstGeom prst="rect">
            <a:avLst/>
          </a:prstGeom>
        </p:spPr>
      </p:pic>
      <p:pic>
        <p:nvPicPr>
          <p:cNvPr name="Picture 12" id="12"/>
          <p:cNvPicPr>
            <a:picLocks noChangeAspect="true"/>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0">
            <a:off x="11709400" y="4051300"/>
            <a:ext cx="4102100" cy="5626100"/>
          </a:xfrm>
          <a:prstGeom prst="rect">
            <a:avLst/>
          </a:prstGeom>
        </p:spPr>
      </p:pic>
      <p:pic>
        <p:nvPicPr>
          <p:cNvPr name="Picture 13" id="13"/>
          <p:cNvPicPr>
            <a:picLocks noChangeAspect="true"/>
          </p:cNvPicPr>
          <p:nvPr/>
        </p:nvPicPr>
        <p:blipFill>
          <a:blip r:embed="rId24">
            <a:alphaModFix amt="50000"/>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0">
            <a:off x="12103100" y="9029700"/>
            <a:ext cx="2146300" cy="444500"/>
          </a:xfrm>
          <a:prstGeom prst="rect">
            <a:avLst/>
          </a:prstGeom>
        </p:spPr>
      </p:pic>
      <p:pic>
        <p:nvPicPr>
          <p:cNvPr name="Picture 14" id="14"/>
          <p:cNvPicPr>
            <a:picLocks noChangeAspect="true"/>
          </p:cNvPicPr>
          <p:nvPr/>
        </p:nvPicPr>
        <p:blipFill>
          <a:blip r:embed="rId26">
            <a:alphaModFix amt="50000"/>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13741400" y="9055100"/>
            <a:ext cx="393700" cy="393700"/>
          </a:xfrm>
          <a:prstGeom prst="rect">
            <a:avLst/>
          </a:prstGeom>
        </p:spPr>
      </p:pic>
      <p:pic>
        <p:nvPicPr>
          <p:cNvPr name="Picture 15" id="15"/>
          <p:cNvPicPr>
            <a:picLocks noChangeAspect="true"/>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rot="10800000">
            <a:off x="2882900" y="7150100"/>
            <a:ext cx="3289300" cy="25400"/>
          </a:xfrm>
          <a:prstGeom prst="rect">
            <a:avLst/>
          </a:prstGeom>
        </p:spPr>
      </p:pic>
      <p:pic>
        <p:nvPicPr>
          <p:cNvPr name="Picture 16" id="16"/>
          <p:cNvPicPr>
            <a:picLocks noChangeAspect="true"/>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rot="10800000">
            <a:off x="7505700" y="7150100"/>
            <a:ext cx="3289300" cy="25400"/>
          </a:xfrm>
          <a:prstGeom prst="rect">
            <a:avLst/>
          </a:prstGeom>
        </p:spPr>
      </p:pic>
      <p:pic>
        <p:nvPicPr>
          <p:cNvPr name="Picture 17" id="17"/>
          <p:cNvPicPr>
            <a:picLocks noChangeAspect="true"/>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rot="10800000">
            <a:off x="12115800" y="7150100"/>
            <a:ext cx="3289300" cy="25400"/>
          </a:xfrm>
          <a:prstGeom prst="rect">
            <a:avLst/>
          </a:prstGeom>
        </p:spPr>
      </p:pic>
      <p:pic>
        <p:nvPicPr>
          <p:cNvPr name="Picture 18" id="18"/>
          <p:cNvPicPr>
            <a:picLocks noChangeAspect="true"/>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0">
            <a:off x="7480300" y="4368800"/>
            <a:ext cx="698500" cy="698500"/>
          </a:xfrm>
          <a:prstGeom prst="rect">
            <a:avLst/>
          </a:prstGeom>
        </p:spPr>
      </p:pic>
      <p:pic>
        <p:nvPicPr>
          <p:cNvPr name="Picture 19" id="19"/>
          <p:cNvPicPr>
            <a:picLocks noChangeAspect="true"/>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rot="0">
            <a:off x="7556500" y="4445000"/>
            <a:ext cx="546100" cy="546100"/>
          </a:xfrm>
          <a:prstGeom prst="rect">
            <a:avLst/>
          </a:prstGeom>
        </p:spPr>
      </p:pic>
      <p:sp>
        <p:nvSpPr>
          <p:cNvPr name="TextBox 20" id="20"/>
          <p:cNvSpPr txBox="true"/>
          <p:nvPr/>
        </p:nvSpPr>
        <p:spPr>
          <a:xfrm rot="0">
            <a:off x="110236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Home</a:t>
            </a:r>
          </a:p>
        </p:txBody>
      </p:sp>
      <p:sp>
        <p:nvSpPr>
          <p:cNvPr name="TextBox 21" id="21"/>
          <p:cNvSpPr txBox="true"/>
          <p:nvPr/>
        </p:nvSpPr>
        <p:spPr>
          <a:xfrm rot="0">
            <a:off x="126619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About</a:t>
            </a:r>
          </a:p>
        </p:txBody>
      </p:sp>
      <p:sp>
        <p:nvSpPr>
          <p:cNvPr name="TextBox 22" id="22"/>
          <p:cNvSpPr txBox="true"/>
          <p:nvPr/>
        </p:nvSpPr>
        <p:spPr>
          <a:xfrm rot="0">
            <a:off x="143002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Contact</a:t>
            </a:r>
          </a:p>
        </p:txBody>
      </p:sp>
      <p:sp>
        <p:nvSpPr>
          <p:cNvPr name="TextBox 23" id="23"/>
          <p:cNvSpPr txBox="true"/>
          <p:nvPr/>
        </p:nvSpPr>
        <p:spPr>
          <a:xfrm rot="0">
            <a:off x="15938500" y="685800"/>
            <a:ext cx="889000" cy="2794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Search</a:t>
            </a:r>
          </a:p>
        </p:txBody>
      </p:sp>
      <p:sp>
        <p:nvSpPr>
          <p:cNvPr name="TextBox 24" id="24"/>
          <p:cNvSpPr txBox="true"/>
          <p:nvPr/>
        </p:nvSpPr>
        <p:spPr>
          <a:xfrm rot="0">
            <a:off x="3416300" y="2832100"/>
            <a:ext cx="11468100" cy="444500"/>
          </a:xfrm>
          <a:prstGeom prst="rect">
            <a:avLst/>
          </a:prstGeom>
        </p:spPr>
        <p:txBody>
          <a:bodyPr anchor="t" rtlCol="false" lIns="0" tIns="0" rIns="0" bIns="0"/>
          <a:lstStyle/>
          <a:p>
            <a:pPr algn="ctr" lvl="0">
              <a:lnSpc>
                <a:spcPct val="116199"/>
              </a:lnSpc>
            </a:pPr>
            <a:r>
              <a:rPr lang="en-US" sz="2400" b="false" i="false" u="none" strike="noStrike">
                <a:solidFill>
                  <a:srgbClr val="171717"/>
                </a:solidFill>
                <a:latin typeface="Hauora Regular"/>
                <a:ea typeface="Hauora Regular"/>
                <a:cs typeface="Hauora Regular"/>
              </a:rPr>
              <a:t>Transparent, predictable pricing. Unmatched ROI from day one.</a:t>
            </a:r>
          </a:p>
        </p:txBody>
      </p:sp>
      <p:sp>
        <p:nvSpPr>
          <p:cNvPr name="TextBox 25" id="25"/>
          <p:cNvSpPr txBox="true"/>
          <p:nvPr/>
        </p:nvSpPr>
        <p:spPr>
          <a:xfrm rot="0">
            <a:off x="2870200" y="4495800"/>
            <a:ext cx="2501900" cy="4445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Essentials</a:t>
            </a:r>
          </a:p>
        </p:txBody>
      </p:sp>
      <p:sp>
        <p:nvSpPr>
          <p:cNvPr name="TextBox 26" id="26"/>
          <p:cNvSpPr txBox="true"/>
          <p:nvPr/>
        </p:nvSpPr>
        <p:spPr>
          <a:xfrm rot="0">
            <a:off x="3060700" y="9118600"/>
            <a:ext cx="1524000" cy="279400"/>
          </a:xfrm>
          <a:prstGeom prst="rect">
            <a:avLst/>
          </a:prstGeom>
        </p:spPr>
        <p:txBody>
          <a:bodyPr anchor="t" rtlCol="false" lIns="0" tIns="17812" rIns="0" bIns="0"/>
          <a:lstStyle/>
          <a:p>
            <a:pPr algn="l" lvl="0">
              <a:lnSpc>
                <a:spcPct val="99600"/>
              </a:lnSpc>
            </a:pPr>
            <a:r>
              <a:rPr lang="en-US" sz="1402" b="false" i="false" u="none" strike="noStrike">
                <a:solidFill>
                  <a:srgbClr val="171717">
                    <a:alpha val="50196"/>
                  </a:srgbClr>
                </a:solidFill>
                <a:latin typeface="Anuphan SemiBold"/>
                <a:ea typeface="Anuphan SemiBold"/>
                <a:cs typeface="Anuphan SemiBold"/>
              </a:rPr>
              <a:t>LOREM IPSUM</a:t>
            </a:r>
          </a:p>
        </p:txBody>
      </p:sp>
      <p:sp>
        <p:nvSpPr>
          <p:cNvPr name="TextBox 27" id="27"/>
          <p:cNvSpPr txBox="true"/>
          <p:nvPr/>
        </p:nvSpPr>
        <p:spPr>
          <a:xfrm rot="0">
            <a:off x="8382000" y="4495800"/>
            <a:ext cx="2501900" cy="444500"/>
          </a:xfrm>
          <a:prstGeom prst="rect">
            <a:avLst/>
          </a:prstGeom>
        </p:spPr>
        <p:txBody>
          <a:bodyPr anchor="t" rtlCol="false" lIns="0" tIns="0" rIns="0" bIns="0"/>
          <a:lstStyle/>
          <a:p>
            <a:pPr algn="l" lvl="0">
              <a:lnSpc>
                <a:spcPct val="116199"/>
              </a:lnSpc>
            </a:pPr>
            <a:r>
              <a:rPr lang="en-US" sz="2400" b="false" i="false" u="none" strike="noStrike">
                <a:solidFill>
                  <a:srgbClr val="FAF8F9"/>
                </a:solidFill>
                <a:latin typeface="Hauora Regular"/>
                <a:ea typeface="Hauora Regular"/>
                <a:cs typeface="Hauora Regular"/>
              </a:rPr>
              <a:t>Professional</a:t>
            </a:r>
          </a:p>
        </p:txBody>
      </p:sp>
      <p:sp>
        <p:nvSpPr>
          <p:cNvPr name="TextBox 28" id="28"/>
          <p:cNvSpPr txBox="true"/>
          <p:nvPr/>
        </p:nvSpPr>
        <p:spPr>
          <a:xfrm rot="0">
            <a:off x="7683500" y="9118600"/>
            <a:ext cx="1524000" cy="279400"/>
          </a:xfrm>
          <a:prstGeom prst="rect">
            <a:avLst/>
          </a:prstGeom>
        </p:spPr>
        <p:txBody>
          <a:bodyPr anchor="t" rtlCol="false" lIns="0" tIns="17812" rIns="0" bIns="0"/>
          <a:lstStyle/>
          <a:p>
            <a:pPr algn="l" lvl="0">
              <a:lnSpc>
                <a:spcPct val="99600"/>
              </a:lnSpc>
            </a:pPr>
            <a:r>
              <a:rPr lang="en-US" sz="1402" b="false" i="false" u="none" strike="noStrike">
                <a:solidFill>
                  <a:srgbClr val="FAF8F9">
                    <a:alpha val="50196"/>
                  </a:srgbClr>
                </a:solidFill>
                <a:latin typeface="Anuphan SemiBold"/>
                <a:ea typeface="Anuphan SemiBold"/>
                <a:cs typeface="Anuphan SemiBold"/>
              </a:rPr>
              <a:t>LOREM IPSUM</a:t>
            </a:r>
          </a:p>
        </p:txBody>
      </p:sp>
      <p:sp>
        <p:nvSpPr>
          <p:cNvPr name="TextBox 29" id="29"/>
          <p:cNvSpPr txBox="true"/>
          <p:nvPr/>
        </p:nvSpPr>
        <p:spPr>
          <a:xfrm rot="0">
            <a:off x="12293600" y="9118600"/>
            <a:ext cx="1524000" cy="279400"/>
          </a:xfrm>
          <a:prstGeom prst="rect">
            <a:avLst/>
          </a:prstGeom>
        </p:spPr>
        <p:txBody>
          <a:bodyPr anchor="t" rtlCol="false" lIns="0" tIns="17812" rIns="0" bIns="0"/>
          <a:lstStyle/>
          <a:p>
            <a:pPr algn="l" lvl="0">
              <a:lnSpc>
                <a:spcPct val="99600"/>
              </a:lnSpc>
            </a:pPr>
            <a:r>
              <a:rPr lang="en-US" sz="1402" b="false" i="false" u="none" strike="noStrike">
                <a:solidFill>
                  <a:srgbClr val="171717">
                    <a:alpha val="50196"/>
                  </a:srgbClr>
                </a:solidFill>
                <a:latin typeface="Anuphan SemiBold"/>
                <a:ea typeface="Anuphan SemiBold"/>
                <a:cs typeface="Anuphan SemiBold"/>
              </a:rPr>
              <a:t>LOREM IPSUM</a:t>
            </a:r>
          </a:p>
        </p:txBody>
      </p:sp>
      <p:sp>
        <p:nvSpPr>
          <p:cNvPr name="TextBox 30" id="30"/>
          <p:cNvSpPr txBox="true"/>
          <p:nvPr/>
        </p:nvSpPr>
        <p:spPr>
          <a:xfrm rot="0">
            <a:off x="12103100" y="4495800"/>
            <a:ext cx="2501900" cy="4445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Enterprise</a:t>
            </a:r>
          </a:p>
        </p:txBody>
      </p:sp>
      <p:sp>
        <p:nvSpPr>
          <p:cNvPr name="TextBox 31" id="31"/>
          <p:cNvSpPr txBox="true"/>
          <p:nvPr/>
        </p:nvSpPr>
        <p:spPr>
          <a:xfrm rot="0">
            <a:off x="2870200" y="6223000"/>
            <a:ext cx="3352800" cy="5207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Core pipeline tracking and automation for emerging teams.</a:t>
            </a:r>
          </a:p>
        </p:txBody>
      </p:sp>
      <p:sp>
        <p:nvSpPr>
          <p:cNvPr name="TextBox 32" id="32"/>
          <p:cNvSpPr txBox="true"/>
          <p:nvPr/>
        </p:nvSpPr>
        <p:spPr>
          <a:xfrm rot="0">
            <a:off x="2870200" y="5130800"/>
            <a:ext cx="3492500" cy="965200"/>
          </a:xfrm>
          <a:prstGeom prst="rect">
            <a:avLst/>
          </a:prstGeom>
        </p:spPr>
        <p:txBody>
          <a:bodyPr anchor="t" rtlCol="false" lIns="0" tIns="67278" rIns="0" bIns="0"/>
          <a:lstStyle/>
          <a:p>
            <a:pPr algn="l" lvl="0">
              <a:lnSpc>
                <a:spcPct val="99600"/>
              </a:lnSpc>
            </a:pPr>
            <a:r>
              <a:rPr lang="en-US" sz="5297" b="false" i="false" u="none" strike="noStrike">
                <a:solidFill>
                  <a:srgbClr val="171717"/>
                </a:solidFill>
                <a:latin typeface="Anuphan SemiBold"/>
                <a:ea typeface="Anuphan SemiBold"/>
                <a:cs typeface="Anuphan SemiBold"/>
              </a:rPr>
              <a:t>$3.199</a:t>
            </a:r>
            <a:r>
              <a:rPr lang="en-US" sz="5297" b="false" i="false" u="none" strike="noStrike" baseline="-25000">
                <a:solidFill>
                  <a:srgbClr val="171717"/>
                </a:solidFill>
                <a:latin typeface="Anuphan SemiBold"/>
                <a:ea typeface="Anuphan SemiBold"/>
                <a:cs typeface="Anuphan SemiBold"/>
              </a:rPr>
              <a:t>/mo</a:t>
            </a:r>
          </a:p>
        </p:txBody>
      </p:sp>
      <p:sp>
        <p:nvSpPr>
          <p:cNvPr name="TextBox 33" id="33"/>
          <p:cNvSpPr txBox="true"/>
          <p:nvPr/>
        </p:nvSpPr>
        <p:spPr>
          <a:xfrm rot="0">
            <a:off x="2870200" y="7327900"/>
            <a:ext cx="3352800" cy="647700"/>
          </a:xfrm>
          <a:prstGeom prst="rect">
            <a:avLst/>
          </a:prstGeom>
        </p:spPr>
        <p:txBody>
          <a:bodyPr anchor="t" rtlCol="false" lIns="0" tIns="0" rIns="0" bIns="0"/>
          <a:lstStyle/>
          <a:p>
            <a:pPr algn="l" lvl="1" marL="177800" indent="-177800">
              <a:lnSpc>
                <a:spcPct val="166000"/>
              </a:lnSpc>
              <a:buClr>
                <a:srgbClr val="000000"/>
              </a:buClr>
              <a:buFont typeface="Arial"/>
              <a:buChar char="●"/>
            </a:pPr>
            <a:r>
              <a:rPr lang="en-US" sz="1400" b="false" i="false" u="none" strike="noStrike">
                <a:solidFill>
                  <a:srgbClr val="171717"/>
                </a:solidFill>
                <a:latin typeface="Hauora Regular"/>
                <a:ea typeface="Hauora Regular"/>
                <a:cs typeface="Hauora Regular"/>
              </a:rPr>
              <a:t>Lorem ipsum dolor sit amet elit</a:t>
            </a:r>
          </a:p>
          <a:p>
            <a:pPr algn="l" lvl="1" marL="177800" indent="-177800">
              <a:lnSpc>
                <a:spcPct val="166000"/>
              </a:lnSpc>
              <a:buClr>
                <a:srgbClr val="000000"/>
              </a:buClr>
              <a:buFont typeface="Arial"/>
              <a:buChar char="●"/>
            </a:pPr>
            <a:r>
              <a:rPr lang="en-US" sz="1400" b="false" i="false" u="none" strike="noStrike">
                <a:solidFill>
                  <a:srgbClr val="171717"/>
                </a:solidFill>
                <a:latin typeface="Hauora Regular"/>
                <a:ea typeface="Hauora Regular"/>
                <a:cs typeface="Hauora Regular"/>
              </a:rPr>
              <a:t>Donec volutpat sagittis eros id est</a:t>
            </a:r>
          </a:p>
        </p:txBody>
      </p:sp>
      <p:sp>
        <p:nvSpPr>
          <p:cNvPr name="TextBox 34" id="34"/>
          <p:cNvSpPr txBox="true"/>
          <p:nvPr/>
        </p:nvSpPr>
        <p:spPr>
          <a:xfrm rot="0">
            <a:off x="1371600" y="685800"/>
            <a:ext cx="2476500" cy="304800"/>
          </a:xfrm>
          <a:prstGeom prst="rect">
            <a:avLst/>
          </a:prstGeom>
        </p:spPr>
        <p:txBody>
          <a:bodyPr anchor="t" rtlCol="false" lIns="0" tIns="0" rIns="0" bIns="0"/>
          <a:lstStyle/>
          <a:p>
            <a:pPr algn="l" lvl="0">
              <a:lnSpc>
                <a:spcPct val="116199"/>
              </a:lnSpc>
            </a:pPr>
            <a:r>
              <a:rPr lang="en-US" sz="1600" b="false" i="false" u="none" strike="noStrike">
                <a:solidFill>
                  <a:srgbClr val="171717"/>
                </a:solidFill>
                <a:latin typeface="Hauora SemiBold"/>
                <a:ea typeface="Hauora SemiBold"/>
                <a:cs typeface="Hauora SemiBold"/>
              </a:rPr>
              <a:t>MIRI Company</a:t>
            </a:r>
          </a:p>
        </p:txBody>
      </p:sp>
      <p:sp>
        <p:nvSpPr>
          <p:cNvPr name="TextBox 35" id="35"/>
          <p:cNvSpPr txBox="true"/>
          <p:nvPr/>
        </p:nvSpPr>
        <p:spPr>
          <a:xfrm rot="0">
            <a:off x="4902200" y="1435100"/>
            <a:ext cx="8470900" cy="1371600"/>
          </a:xfrm>
          <a:prstGeom prst="rect">
            <a:avLst/>
          </a:prstGeom>
        </p:spPr>
        <p:txBody>
          <a:bodyPr anchor="t" rtlCol="false" lIns="0" tIns="96520" rIns="0" bIns="0"/>
          <a:lstStyle/>
          <a:p>
            <a:pPr algn="ctr" lvl="0">
              <a:lnSpc>
                <a:spcPct val="99600"/>
              </a:lnSpc>
            </a:pPr>
            <a:r>
              <a:rPr lang="en-US" sz="7598" b="false" i="false" u="none" strike="noStrike">
                <a:solidFill>
                  <a:srgbClr val="171717"/>
                </a:solidFill>
                <a:latin typeface="Anuphan SemiBold"/>
                <a:ea typeface="Anuphan SemiBold"/>
                <a:cs typeface="Anuphan SemiBold"/>
              </a:rPr>
              <a:t>ROI &amp; Pricing</a:t>
            </a:r>
          </a:p>
        </p:txBody>
      </p:sp>
      <p:sp>
        <p:nvSpPr>
          <p:cNvPr name="TextBox 36" id="36"/>
          <p:cNvSpPr txBox="true"/>
          <p:nvPr/>
        </p:nvSpPr>
        <p:spPr>
          <a:xfrm rot="0">
            <a:off x="7493000" y="5727700"/>
            <a:ext cx="3352800" cy="1511300"/>
          </a:xfrm>
          <a:prstGeom prst="rect">
            <a:avLst/>
          </a:prstGeom>
        </p:spPr>
        <p:txBody>
          <a:bodyPr anchor="t" rtlCol="false" lIns="0" tIns="0" rIns="0" bIns="0"/>
          <a:lstStyle/>
          <a:p>
            <a:pPr algn="l" lvl="0">
              <a:lnSpc>
                <a:spcPct val="116199"/>
              </a:lnSpc>
            </a:pPr>
            <a:r>
              <a:rPr lang="en-US" sz="1400" b="false" i="false" u="none" strike="noStrike">
                <a:solidFill>
                  <a:srgbClr val="FAF8F9"/>
                </a:solidFill>
                <a:latin typeface="Hauora Regular"/>
                <a:ea typeface="Hauora Regular"/>
                <a:cs typeface="Hauora Regular"/>
              </a:rPr>
              <a:t>Advanced revenue workflows and real-time forecasting for scaling sales teams.</a:t>
            </a:r>
          </a:p>
        </p:txBody>
      </p:sp>
      <p:sp>
        <p:nvSpPr>
          <p:cNvPr name="TextBox 37" id="37"/>
          <p:cNvSpPr txBox="true"/>
          <p:nvPr/>
        </p:nvSpPr>
        <p:spPr>
          <a:xfrm rot="0">
            <a:off x="7480300" y="5130800"/>
            <a:ext cx="3505200" cy="965200"/>
          </a:xfrm>
          <a:prstGeom prst="rect">
            <a:avLst/>
          </a:prstGeom>
        </p:spPr>
        <p:txBody>
          <a:bodyPr anchor="t" rtlCol="false" lIns="0" tIns="67278" rIns="0" bIns="0"/>
          <a:lstStyle/>
          <a:p>
            <a:pPr algn="l" lvl="0">
              <a:lnSpc>
                <a:spcPct val="99600"/>
              </a:lnSpc>
            </a:pPr>
            <a:r>
              <a:rPr lang="en-US" sz="5297" b="false" i="false" u="none" strike="noStrike">
                <a:solidFill>
                  <a:srgbClr val="FAF8F9"/>
                </a:solidFill>
                <a:latin typeface="Anuphan SemiBold"/>
                <a:ea typeface="Anuphan SemiBold"/>
                <a:cs typeface="Anuphan SemiBold"/>
              </a:rPr>
              <a:t>$4.199</a:t>
            </a:r>
            <a:r>
              <a:rPr lang="en-US" sz="5297" b="false" i="false" u="none" strike="noStrike" baseline="-25000">
                <a:solidFill>
                  <a:srgbClr val="FAF8F9"/>
                </a:solidFill>
                <a:latin typeface="Anuphan SemiBold"/>
                <a:ea typeface="Anuphan SemiBold"/>
                <a:cs typeface="Anuphan SemiBold"/>
              </a:rPr>
              <a:t>/mo</a:t>
            </a:r>
          </a:p>
        </p:txBody>
      </p:sp>
      <p:sp>
        <p:nvSpPr>
          <p:cNvPr name="TextBox 38" id="38"/>
          <p:cNvSpPr txBox="true"/>
          <p:nvPr/>
        </p:nvSpPr>
        <p:spPr>
          <a:xfrm rot="0">
            <a:off x="7480300" y="7315200"/>
            <a:ext cx="3352800" cy="1016000"/>
          </a:xfrm>
          <a:prstGeom prst="rect">
            <a:avLst/>
          </a:prstGeom>
        </p:spPr>
        <p:txBody>
          <a:bodyPr anchor="t" rtlCol="false" lIns="0" tIns="0" rIns="0" bIns="0"/>
          <a:lstStyle/>
          <a:p>
            <a:pPr algn="l" lvl="1" marL="177800" indent="-177800">
              <a:lnSpc>
                <a:spcPct val="166000"/>
              </a:lnSpc>
              <a:buClr>
                <a:srgbClr val="000000"/>
              </a:buClr>
              <a:buFont typeface="Arial"/>
              <a:buChar char="●"/>
            </a:pPr>
            <a:r>
              <a:rPr lang="en-US" sz="1400" b="false" i="false" u="none" strike="noStrike">
                <a:solidFill>
                  <a:srgbClr val="FAF8F9"/>
                </a:solidFill>
                <a:latin typeface="Hauora Regular"/>
                <a:ea typeface="Hauora Regular"/>
                <a:cs typeface="Hauora Regular"/>
              </a:rPr>
              <a:t>Lorem ipsum dolor sit amet elit</a:t>
            </a:r>
          </a:p>
          <a:p>
            <a:pPr algn="l" lvl="1" marL="177800" indent="-177800">
              <a:lnSpc>
                <a:spcPct val="166000"/>
              </a:lnSpc>
              <a:buClr>
                <a:srgbClr val="000000"/>
              </a:buClr>
              <a:buFont typeface="Arial"/>
              <a:buChar char="●"/>
            </a:pPr>
            <a:r>
              <a:rPr lang="en-US" sz="1400" b="false" i="false" u="none" strike="noStrike">
                <a:solidFill>
                  <a:srgbClr val="FAF8F9"/>
                </a:solidFill>
                <a:latin typeface="Hauora Regular"/>
                <a:ea typeface="Hauora Regular"/>
                <a:cs typeface="Hauora Regular"/>
              </a:rPr>
              <a:t>Donec volutpat sagittis eros id est</a:t>
            </a:r>
          </a:p>
          <a:p>
            <a:pPr algn="l" lvl="1" marL="177800" indent="-177800">
              <a:lnSpc>
                <a:spcPct val="166000"/>
              </a:lnSpc>
              <a:buClr>
                <a:srgbClr val="000000"/>
              </a:buClr>
              <a:buFont typeface="Arial"/>
              <a:buChar char="●"/>
            </a:pPr>
            <a:r>
              <a:rPr lang="en-US" sz="1400" b="false" i="false" u="none" strike="noStrike">
                <a:solidFill>
                  <a:srgbClr val="FAF8F9"/>
                </a:solidFill>
                <a:latin typeface="Hauora Regular"/>
                <a:ea typeface="Hauora Regular"/>
                <a:cs typeface="Hauora Regular"/>
              </a:rPr>
              <a:t>Pellentesque vitae dui posuere</a:t>
            </a:r>
          </a:p>
        </p:txBody>
      </p:sp>
      <p:sp>
        <p:nvSpPr>
          <p:cNvPr name="TextBox 39" id="39"/>
          <p:cNvSpPr txBox="true"/>
          <p:nvPr/>
        </p:nvSpPr>
        <p:spPr>
          <a:xfrm rot="0">
            <a:off x="12103100" y="6223000"/>
            <a:ext cx="3352800" cy="7747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Unlimited pipeline scale, VIP RevOps support, and SOC2 compliance for global orgs.</a:t>
            </a:r>
          </a:p>
        </p:txBody>
      </p:sp>
      <p:sp>
        <p:nvSpPr>
          <p:cNvPr name="TextBox 40" id="40"/>
          <p:cNvSpPr txBox="true"/>
          <p:nvPr/>
        </p:nvSpPr>
        <p:spPr>
          <a:xfrm rot="0">
            <a:off x="12103100" y="5130800"/>
            <a:ext cx="3492500" cy="965200"/>
          </a:xfrm>
          <a:prstGeom prst="rect">
            <a:avLst/>
          </a:prstGeom>
        </p:spPr>
        <p:txBody>
          <a:bodyPr anchor="t" rtlCol="false" lIns="0" tIns="67278" rIns="0" bIns="0"/>
          <a:lstStyle/>
          <a:p>
            <a:pPr algn="l" lvl="0">
              <a:lnSpc>
                <a:spcPct val="99600"/>
              </a:lnSpc>
            </a:pPr>
            <a:r>
              <a:rPr lang="en-US" sz="5297" b="false" i="false" u="none" strike="noStrike">
                <a:solidFill>
                  <a:srgbClr val="171717"/>
                </a:solidFill>
                <a:latin typeface="Anuphan SemiBold"/>
                <a:ea typeface="Anuphan SemiBold"/>
                <a:cs typeface="Anuphan SemiBold"/>
              </a:rPr>
              <a:t>$6.199</a:t>
            </a:r>
            <a:r>
              <a:rPr lang="en-US" sz="5297" b="false" i="false" u="none" strike="noStrike" baseline="-25000">
                <a:solidFill>
                  <a:srgbClr val="171717"/>
                </a:solidFill>
                <a:latin typeface="Anuphan SemiBold"/>
                <a:ea typeface="Anuphan SemiBold"/>
                <a:cs typeface="Anuphan SemiBold"/>
              </a:rPr>
              <a:t>/mo</a:t>
            </a:r>
          </a:p>
        </p:txBody>
      </p:sp>
      <p:sp>
        <p:nvSpPr>
          <p:cNvPr name="TextBox 41" id="41"/>
          <p:cNvSpPr txBox="true"/>
          <p:nvPr/>
        </p:nvSpPr>
        <p:spPr>
          <a:xfrm rot="0">
            <a:off x="12103100" y="7327900"/>
            <a:ext cx="3352800" cy="1358900"/>
          </a:xfrm>
          <a:prstGeom prst="rect">
            <a:avLst/>
          </a:prstGeom>
        </p:spPr>
        <p:txBody>
          <a:bodyPr anchor="t" rtlCol="false" lIns="0" tIns="0" rIns="0" bIns="0"/>
          <a:lstStyle/>
          <a:p>
            <a:pPr algn="l" lvl="1" marL="177800" indent="-177800">
              <a:lnSpc>
                <a:spcPct val="166000"/>
              </a:lnSpc>
              <a:buClr>
                <a:srgbClr val="000000"/>
              </a:buClr>
              <a:buFont typeface="Arial"/>
              <a:buChar char="●"/>
            </a:pPr>
            <a:r>
              <a:rPr lang="en-US" sz="1400" b="false" i="false" u="none" strike="noStrike">
                <a:solidFill>
                  <a:srgbClr val="171717"/>
                </a:solidFill>
                <a:latin typeface="Hauora Regular"/>
                <a:ea typeface="Hauora Regular"/>
                <a:cs typeface="Hauora Regular"/>
              </a:rPr>
              <a:t>Lorem ipsum dolor sit amet elit</a:t>
            </a:r>
          </a:p>
          <a:p>
            <a:pPr algn="l" lvl="1" marL="177800" indent="-177800">
              <a:lnSpc>
                <a:spcPct val="166000"/>
              </a:lnSpc>
              <a:buClr>
                <a:srgbClr val="000000"/>
              </a:buClr>
              <a:buFont typeface="Arial"/>
              <a:buChar char="●"/>
            </a:pPr>
            <a:r>
              <a:rPr lang="en-US" sz="1400" b="false" i="false" u="none" strike="noStrike">
                <a:solidFill>
                  <a:srgbClr val="171717"/>
                </a:solidFill>
                <a:latin typeface="Hauora Regular"/>
                <a:ea typeface="Hauora Regular"/>
                <a:cs typeface="Hauora Regular"/>
              </a:rPr>
              <a:t>Donec volutpat sagittis eros id est</a:t>
            </a:r>
          </a:p>
          <a:p>
            <a:pPr algn="l" lvl="1" marL="177800" indent="-177800">
              <a:lnSpc>
                <a:spcPct val="166000"/>
              </a:lnSpc>
              <a:buClr>
                <a:srgbClr val="000000"/>
              </a:buClr>
              <a:buFont typeface="Arial"/>
              <a:buChar char="●"/>
            </a:pPr>
            <a:r>
              <a:rPr lang="en-US" sz="1400" b="false" i="false" u="none" strike="noStrike">
                <a:solidFill>
                  <a:srgbClr val="171717"/>
                </a:solidFill>
                <a:latin typeface="Hauora Regular"/>
                <a:ea typeface="Hauora Regular"/>
                <a:cs typeface="Hauora Regular"/>
              </a:rPr>
              <a:t>Pellentesque vitae dui posuere</a:t>
            </a:r>
          </a:p>
          <a:p>
            <a:pPr algn="l" lvl="1" marL="177800" indent="-177800">
              <a:lnSpc>
                <a:spcPct val="166000"/>
              </a:lnSpc>
              <a:buClr>
                <a:srgbClr val="000000"/>
              </a:buClr>
              <a:buFont typeface="Arial"/>
              <a:buChar char="●"/>
            </a:pPr>
            <a:r>
              <a:rPr lang="en-US" sz="1400" b="false" i="false" u="none" strike="noStrike">
                <a:solidFill>
                  <a:srgbClr val="171717"/>
                </a:solidFill>
                <a:latin typeface="Hauora Regular"/>
                <a:ea typeface="Hauora Regular"/>
                <a:cs typeface="Hauora Regular"/>
              </a:rPr>
              <a:t>Curabitur laoreet quam at enim et</a:t>
            </a:r>
          </a:p>
        </p:txBody>
      </p:sp>
    </p:spTree>
  </p:cSld>
  <p:clrMapOvr>
    <a:masterClrMapping/>
  </p:clrMapOvr>
</p:sld>
</file>

<file path=ppt/slides/slide12.xml><?xml version="1.0" encoding="utf-8"?>
<p:sld xmlns:p="http://schemas.openxmlformats.org/presentationml/2006/main" xmlns:a="http://schemas.openxmlformats.org/drawingml/2006/main">
  <p:cSld>
    <p:bg xmlns:r="http://schemas.openxmlformats.org/officeDocument/2006/relationships">
      <p:bgPr>
        <a:solidFill>
          <a:srgbClr val="FAF8F9"/>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a:off x="9867900" y="546100"/>
            <a:ext cx="7683500" cy="58420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a:off x="15468600" y="546100"/>
            <a:ext cx="2082800" cy="5842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a:off x="17081500" y="660400"/>
            <a:ext cx="368300" cy="368300"/>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a:off x="762000" y="647700"/>
            <a:ext cx="723900" cy="393700"/>
          </a:xfrm>
          <a:prstGeom prst="rect">
            <a:avLst/>
          </a:prstGeom>
        </p:spPr>
      </p:pic>
      <p:pic>
        <p:nvPicPr>
          <p:cNvPr name="Picture 6" id="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a:off x="11379200" y="6985000"/>
            <a:ext cx="2438400" cy="520700"/>
          </a:xfrm>
          <a:prstGeom prst="rect">
            <a:avLst/>
          </a:prstGeom>
        </p:spPr>
      </p:pic>
      <p:pic>
        <p:nvPicPr>
          <p:cNvPr name="Picture 7" id="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a:off x="9156700" y="6985000"/>
            <a:ext cx="2082800" cy="520700"/>
          </a:xfrm>
          <a:prstGeom prst="rect">
            <a:avLst/>
          </a:prstGeom>
        </p:spPr>
      </p:pic>
      <p:pic>
        <p:nvPicPr>
          <p:cNvPr name="Picture 8" id="8"/>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a:off x="13246100" y="7023100"/>
            <a:ext cx="444500" cy="444500"/>
          </a:xfrm>
          <a:prstGeom prst="rect">
            <a:avLst/>
          </a:prstGeom>
        </p:spPr>
      </p:pic>
      <p:pic>
        <p:nvPicPr>
          <p:cNvPr name="Picture 9" id="9"/>
          <p:cNvPicPr>
            <a:picLocks noChangeAspect="true"/>
          </p:cNvPicPr>
          <p:nvPr/>
        </p:nvPicPr>
        <p:blipFill>
          <a:blip r:embed="rId16"/>
          <a:stretch>
            <a:fillRect/>
          </a:stretch>
        </p:blipFill>
        <p:spPr>
          <a:xfrm rot="0">
            <a:off x="723900" y="2286000"/>
            <a:ext cx="6629400" cy="6629400"/>
          </a:xfrm>
          <a:prstGeom prst="rect">
            <a:avLst/>
          </a:prstGeom>
        </p:spPr>
      </p:pic>
      <p:pic>
        <p:nvPicPr>
          <p:cNvPr name="Picture 10" id="10"/>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a:off x="5334000" y="3924300"/>
            <a:ext cx="3111500" cy="3594100"/>
          </a:xfrm>
          <a:prstGeom prst="rect">
            <a:avLst/>
          </a:prstGeom>
        </p:spPr>
      </p:pic>
      <p:pic>
        <p:nvPicPr>
          <p:cNvPr name="Picture 11" id="11"/>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a:off x="5689600" y="4254500"/>
            <a:ext cx="698500" cy="698500"/>
          </a:xfrm>
          <a:prstGeom prst="rect">
            <a:avLst/>
          </a:prstGeom>
        </p:spPr>
      </p:pic>
      <p:pic>
        <p:nvPicPr>
          <p:cNvPr name="Picture 12" id="12"/>
          <p:cNvPicPr>
            <a:picLocks noChangeAspect="true"/>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0">
            <a:off x="5765800" y="4330700"/>
            <a:ext cx="546100" cy="546100"/>
          </a:xfrm>
          <a:prstGeom prst="rect">
            <a:avLst/>
          </a:prstGeom>
        </p:spPr>
      </p:pic>
      <p:sp>
        <p:nvSpPr>
          <p:cNvPr name="TextBox 13" id="13"/>
          <p:cNvSpPr txBox="true"/>
          <p:nvPr/>
        </p:nvSpPr>
        <p:spPr>
          <a:xfrm rot="0">
            <a:off x="1587500" y="635000"/>
            <a:ext cx="2501900" cy="406400"/>
          </a:xfrm>
          <a:prstGeom prst="rect">
            <a:avLst/>
          </a:prstGeom>
        </p:spPr>
        <p:txBody>
          <a:bodyPr anchor="t" rtlCol="false" lIns="0" tIns="0" rIns="0" bIns="0"/>
          <a:lstStyle/>
          <a:p>
            <a:pPr algn="l" lvl="0">
              <a:lnSpc>
                <a:spcPct val="116199"/>
              </a:lnSpc>
            </a:pPr>
            <a:r>
              <a:rPr lang="en-US" sz="2100" b="false" i="false" u="none" strike="noStrike">
                <a:solidFill>
                  <a:srgbClr val="171717"/>
                </a:solidFill>
                <a:latin typeface="Hauora SemiBold"/>
                <a:ea typeface="Hauora SemiBold"/>
                <a:cs typeface="Hauora SemiBold"/>
              </a:rPr>
              <a:t>MIRI Company</a:t>
            </a:r>
          </a:p>
        </p:txBody>
      </p:sp>
      <p:sp>
        <p:nvSpPr>
          <p:cNvPr name="TextBox 14" id="14"/>
          <p:cNvSpPr txBox="true"/>
          <p:nvPr/>
        </p:nvSpPr>
        <p:spPr>
          <a:xfrm rot="0">
            <a:off x="10541000" y="685800"/>
            <a:ext cx="965200" cy="304800"/>
          </a:xfrm>
          <a:prstGeom prst="rect">
            <a:avLst/>
          </a:prstGeom>
        </p:spPr>
        <p:txBody>
          <a:bodyPr anchor="t" rtlCol="false" lIns="0" tIns="0" rIns="0" bIns="0"/>
          <a:lstStyle/>
          <a:p>
            <a:pPr algn="l" lvl="0">
              <a:lnSpc>
                <a:spcPct val="116199"/>
              </a:lnSpc>
            </a:pPr>
            <a:r>
              <a:rPr lang="en-US" sz="1599" b="false" i="false" u="none" strike="noStrike">
                <a:solidFill>
                  <a:srgbClr val="FAF8F9"/>
                </a:solidFill>
                <a:latin typeface="Hauora Regular"/>
                <a:ea typeface="Hauora Regular"/>
                <a:cs typeface="Hauora Regular"/>
              </a:rPr>
              <a:t>Home</a:t>
            </a:r>
          </a:p>
        </p:txBody>
      </p:sp>
      <p:sp>
        <p:nvSpPr>
          <p:cNvPr name="TextBox 15" id="15"/>
          <p:cNvSpPr txBox="true"/>
          <p:nvPr/>
        </p:nvSpPr>
        <p:spPr>
          <a:xfrm rot="0">
            <a:off x="12293600" y="685800"/>
            <a:ext cx="965200" cy="304800"/>
          </a:xfrm>
          <a:prstGeom prst="rect">
            <a:avLst/>
          </a:prstGeom>
        </p:spPr>
        <p:txBody>
          <a:bodyPr anchor="t" rtlCol="false" lIns="0" tIns="0" rIns="0" bIns="0"/>
          <a:lstStyle/>
          <a:p>
            <a:pPr algn="l" lvl="0">
              <a:lnSpc>
                <a:spcPct val="116199"/>
              </a:lnSpc>
            </a:pPr>
            <a:r>
              <a:rPr lang="en-US" sz="1599" b="false" i="false" u="none" strike="noStrike">
                <a:solidFill>
                  <a:srgbClr val="FAF8F9"/>
                </a:solidFill>
                <a:latin typeface="Hauora Regular"/>
                <a:ea typeface="Hauora Regular"/>
                <a:cs typeface="Hauora Regular"/>
              </a:rPr>
              <a:t>About</a:t>
            </a:r>
          </a:p>
        </p:txBody>
      </p:sp>
      <p:sp>
        <p:nvSpPr>
          <p:cNvPr name="TextBox 16" id="16"/>
          <p:cNvSpPr txBox="true"/>
          <p:nvPr/>
        </p:nvSpPr>
        <p:spPr>
          <a:xfrm rot="0">
            <a:off x="14058900" y="685800"/>
            <a:ext cx="965200" cy="304800"/>
          </a:xfrm>
          <a:prstGeom prst="rect">
            <a:avLst/>
          </a:prstGeom>
        </p:spPr>
        <p:txBody>
          <a:bodyPr anchor="t" rtlCol="false" lIns="0" tIns="0" rIns="0" bIns="0"/>
          <a:lstStyle/>
          <a:p>
            <a:pPr algn="l" lvl="0">
              <a:lnSpc>
                <a:spcPct val="116199"/>
              </a:lnSpc>
            </a:pPr>
            <a:r>
              <a:rPr lang="en-US" sz="1599" b="false" i="false" u="none" strike="noStrike">
                <a:solidFill>
                  <a:srgbClr val="FAF8F9"/>
                </a:solidFill>
                <a:latin typeface="Hauora Regular"/>
                <a:ea typeface="Hauora Regular"/>
                <a:cs typeface="Hauora Regular"/>
              </a:rPr>
              <a:t>Contact</a:t>
            </a:r>
          </a:p>
        </p:txBody>
      </p:sp>
      <p:sp>
        <p:nvSpPr>
          <p:cNvPr name="TextBox 17" id="17"/>
          <p:cNvSpPr txBox="true"/>
          <p:nvPr/>
        </p:nvSpPr>
        <p:spPr>
          <a:xfrm rot="0">
            <a:off x="15824200" y="685800"/>
            <a:ext cx="965200" cy="304800"/>
          </a:xfrm>
          <a:prstGeom prst="rect">
            <a:avLst/>
          </a:prstGeom>
        </p:spPr>
        <p:txBody>
          <a:bodyPr anchor="t" rtlCol="false" lIns="0" tIns="0" rIns="0" bIns="0"/>
          <a:lstStyle/>
          <a:p>
            <a:pPr algn="l" lvl="0">
              <a:lnSpc>
                <a:spcPct val="116199"/>
              </a:lnSpc>
            </a:pPr>
            <a:r>
              <a:rPr lang="en-US" sz="1599" b="false" i="false" u="none" strike="noStrike">
                <a:solidFill>
                  <a:srgbClr val="171717"/>
                </a:solidFill>
                <a:latin typeface="Hauora Regular"/>
                <a:ea typeface="Hauora Regular"/>
                <a:cs typeface="Hauora Regular"/>
              </a:rPr>
              <a:t>Search</a:t>
            </a:r>
          </a:p>
        </p:txBody>
      </p:sp>
      <p:sp>
        <p:nvSpPr>
          <p:cNvPr name="TextBox 18" id="18"/>
          <p:cNvSpPr txBox="true"/>
          <p:nvPr/>
        </p:nvSpPr>
        <p:spPr>
          <a:xfrm rot="0">
            <a:off x="9156700" y="3479800"/>
            <a:ext cx="8775700" cy="3327400"/>
          </a:xfrm>
          <a:prstGeom prst="rect">
            <a:avLst/>
          </a:prstGeom>
        </p:spPr>
        <p:txBody>
          <a:bodyPr anchor="t" rtlCol="false" lIns="0" tIns="127000" rIns="0" bIns="0"/>
          <a:lstStyle/>
          <a:p>
            <a:pPr algn="l" lvl="0">
              <a:lnSpc>
                <a:spcPct val="99600"/>
              </a:lnSpc>
            </a:pPr>
            <a:r>
              <a:rPr lang="en-US" sz="9999" b="false" i="false" u="none" strike="noStrike">
                <a:solidFill>
                  <a:srgbClr val="171717"/>
                </a:solidFill>
                <a:latin typeface="Anuphan SemiBold"/>
                <a:ea typeface="Anuphan SemiBold"/>
                <a:cs typeface="Anuphan SemiBold"/>
              </a:rPr>
              <a:t>Let’s Build Your Pipeline!</a:t>
            </a:r>
          </a:p>
        </p:txBody>
      </p:sp>
      <p:sp>
        <p:nvSpPr>
          <p:cNvPr name="TextBox 19" id="19"/>
          <p:cNvSpPr txBox="true"/>
          <p:nvPr/>
        </p:nvSpPr>
        <p:spPr>
          <a:xfrm rot="0">
            <a:off x="9156700" y="2413000"/>
            <a:ext cx="8534400" cy="952500"/>
          </a:xfrm>
          <a:prstGeom prst="rect">
            <a:avLst/>
          </a:prstGeom>
        </p:spPr>
        <p:txBody>
          <a:bodyPr anchor="t" rtlCol="false" lIns="0" tIns="0" rIns="0" bIns="0"/>
          <a:lstStyle/>
          <a:p>
            <a:pPr algn="l" lvl="0">
              <a:lnSpc>
                <a:spcPct val="116199"/>
              </a:lnSpc>
            </a:pPr>
            <a:r>
              <a:rPr lang="en-US" sz="2600" b="false" i="false" u="none" strike="noStrike">
                <a:solidFill>
                  <a:srgbClr val="171717"/>
                </a:solidFill>
                <a:latin typeface="Hauora Regular"/>
                <a:ea typeface="Hauora Regular"/>
                <a:cs typeface="Hauora Regular"/>
              </a:rPr>
              <a:t>Ready to scale your revenue</a:t>
            </a:r>
          </a:p>
          <a:p>
            <a:pPr algn="l" lvl="0">
              <a:lnSpc>
                <a:spcPct val="116199"/>
              </a:lnSpc>
            </a:pPr>
            <a:r>
              <a:rPr lang="en-US" sz="2600" b="false" i="false" u="none" strike="noStrike">
                <a:solidFill>
                  <a:srgbClr val="171717"/>
                </a:solidFill>
                <a:latin typeface="Hauora Regular"/>
                <a:ea typeface="Hauora Regular"/>
                <a:cs typeface="Hauora Regular"/>
              </a:rPr>
              <a:t>without the operational friction?</a:t>
            </a:r>
          </a:p>
        </p:txBody>
      </p:sp>
      <p:sp>
        <p:nvSpPr>
          <p:cNvPr name="TextBox 20" id="20"/>
          <p:cNvSpPr txBox="true"/>
          <p:nvPr/>
        </p:nvSpPr>
        <p:spPr>
          <a:xfrm rot="0">
            <a:off x="11518900" y="7099300"/>
            <a:ext cx="1778000" cy="304800"/>
          </a:xfrm>
          <a:prstGeom prst="rect">
            <a:avLst/>
          </a:prstGeom>
        </p:spPr>
        <p:txBody>
          <a:bodyPr anchor="t" rtlCol="false" lIns="0" tIns="20370" rIns="0" bIns="0"/>
          <a:lstStyle/>
          <a:p>
            <a:pPr algn="ctr" lvl="0">
              <a:lnSpc>
                <a:spcPct val="99600"/>
              </a:lnSpc>
            </a:pPr>
            <a:r>
              <a:rPr lang="en-US" sz="1603" b="false" i="false" u="none" strike="noStrike">
                <a:solidFill>
                  <a:srgbClr val="FAF8F9"/>
                </a:solidFill>
                <a:latin typeface="Anuphan SemiBold"/>
                <a:ea typeface="Anuphan SemiBold"/>
                <a:cs typeface="Anuphan SemiBold"/>
              </a:rPr>
              <a:t>LOREM IPSUM</a:t>
            </a:r>
          </a:p>
        </p:txBody>
      </p:sp>
      <p:sp>
        <p:nvSpPr>
          <p:cNvPr name="TextBox 21" id="21"/>
          <p:cNvSpPr txBox="true"/>
          <p:nvPr/>
        </p:nvSpPr>
        <p:spPr>
          <a:xfrm rot="0">
            <a:off x="9156700" y="8331200"/>
            <a:ext cx="1854200" cy="596900"/>
          </a:xfrm>
          <a:prstGeom prst="rect">
            <a:avLst/>
          </a:prstGeom>
        </p:spPr>
        <p:txBody>
          <a:bodyPr anchor="t" rtlCol="false" lIns="0" tIns="0" rIns="0" bIns="0"/>
          <a:lstStyle/>
          <a:p>
            <a:pPr algn="l" lvl="0">
              <a:lnSpc>
                <a:spcPct val="116199"/>
              </a:lnSpc>
            </a:pPr>
            <a:r>
              <a:rPr lang="en-US" sz="1599" b="false" i="false" u="none" strike="noStrike">
                <a:solidFill>
                  <a:srgbClr val="171717"/>
                </a:solidFill>
                <a:latin typeface="Hauora Regular"/>
                <a:ea typeface="Hauora Regular"/>
                <a:cs typeface="Hauora Regular"/>
              </a:rPr>
              <a:t>LinkedIn URL</a:t>
            </a:r>
          </a:p>
          <a:p>
            <a:pPr algn="l" lvl="0">
              <a:lnSpc>
                <a:spcPct val="116199"/>
              </a:lnSpc>
            </a:pPr>
            <a:r>
              <a:rPr lang="en-US" sz="1599" b="false" i="false" u="none" strike="noStrike">
                <a:solidFill>
                  <a:srgbClr val="171717"/>
                </a:solidFill>
                <a:latin typeface="Hauora SemiBold"/>
                <a:ea typeface="Hauora SemiBold"/>
                <a:cs typeface="Hauora SemiBold"/>
              </a:rPr>
              <a:t>Taylor Lee</a:t>
            </a:r>
          </a:p>
        </p:txBody>
      </p:sp>
      <p:sp>
        <p:nvSpPr>
          <p:cNvPr name="TextBox 22" id="22"/>
          <p:cNvSpPr txBox="true"/>
          <p:nvPr/>
        </p:nvSpPr>
        <p:spPr>
          <a:xfrm rot="0">
            <a:off x="11658600" y="8610600"/>
            <a:ext cx="2552700" cy="304800"/>
          </a:xfrm>
          <a:prstGeom prst="rect">
            <a:avLst/>
          </a:prstGeom>
        </p:spPr>
        <p:txBody>
          <a:bodyPr anchor="t" rtlCol="false" lIns="0" tIns="0" rIns="0" bIns="0"/>
          <a:lstStyle/>
          <a:p>
            <a:pPr algn="l" lvl="0">
              <a:lnSpc>
                <a:spcPct val="116199"/>
              </a:lnSpc>
            </a:pPr>
            <a:r>
              <a:rPr lang="en-US" sz="1599" b="false" i="false" u="none" strike="noStrike">
                <a:solidFill>
                  <a:srgbClr val="171717"/>
                </a:solidFill>
                <a:latin typeface="Hauora Regular"/>
                <a:ea typeface="Hauora Regular"/>
                <a:cs typeface="Hauora Regular"/>
              </a:rPr>
              <a:t>miri@yourcompany.com</a:t>
            </a:r>
          </a:p>
        </p:txBody>
      </p:sp>
      <p:sp>
        <p:nvSpPr>
          <p:cNvPr name="TextBox 23" id="23"/>
          <p:cNvSpPr txBox="true"/>
          <p:nvPr/>
        </p:nvSpPr>
        <p:spPr>
          <a:xfrm rot="0">
            <a:off x="15062200" y="8610600"/>
            <a:ext cx="2552700" cy="304800"/>
          </a:xfrm>
          <a:prstGeom prst="rect">
            <a:avLst/>
          </a:prstGeom>
        </p:spPr>
        <p:txBody>
          <a:bodyPr anchor="t" rtlCol="false" lIns="0" tIns="0" rIns="0" bIns="0"/>
          <a:lstStyle/>
          <a:p>
            <a:pPr algn="l" lvl="0">
              <a:lnSpc>
                <a:spcPct val="116199"/>
              </a:lnSpc>
            </a:pPr>
            <a:r>
              <a:rPr lang="en-US" sz="1599" b="false" i="false" u="none" strike="noStrike">
                <a:solidFill>
                  <a:srgbClr val="171717"/>
                </a:solidFill>
                <a:latin typeface="Hauora Regular"/>
                <a:ea typeface="Hauora Regular"/>
                <a:cs typeface="Hauora Regular"/>
              </a:rPr>
              <a:t>000-0000-0000</a:t>
            </a:r>
          </a:p>
        </p:txBody>
      </p:sp>
      <p:sp>
        <p:nvSpPr>
          <p:cNvPr name="TextBox 24" id="24"/>
          <p:cNvSpPr txBox="true"/>
          <p:nvPr/>
        </p:nvSpPr>
        <p:spPr>
          <a:xfrm rot="0">
            <a:off x="9309100" y="7099300"/>
            <a:ext cx="1765300" cy="304800"/>
          </a:xfrm>
          <a:prstGeom prst="rect">
            <a:avLst/>
          </a:prstGeom>
        </p:spPr>
        <p:txBody>
          <a:bodyPr anchor="t" rtlCol="false" lIns="0" tIns="22860" rIns="0" bIns="0"/>
          <a:lstStyle/>
          <a:p>
            <a:pPr algn="ctr" lvl="0">
              <a:lnSpc>
                <a:spcPct val="99600"/>
              </a:lnSpc>
            </a:pPr>
            <a:r>
              <a:rPr lang="en-US" sz="1603" b="false" i="false" u="none" strike="noStrike">
                <a:solidFill>
                  <a:srgbClr val="171717"/>
                </a:solidFill>
                <a:latin typeface="Anuphan SemiBold"/>
                <a:ea typeface="Anuphan SemiBold"/>
                <a:cs typeface="Anuphan SemiBold"/>
              </a:rPr>
              <a:t>LOREM IPSUM</a:t>
            </a:r>
          </a:p>
        </p:txBody>
      </p:sp>
      <p:sp>
        <p:nvSpPr>
          <p:cNvPr name="TextBox 25" id="25"/>
          <p:cNvSpPr txBox="true"/>
          <p:nvPr/>
        </p:nvSpPr>
        <p:spPr>
          <a:xfrm rot="0">
            <a:off x="5689600" y="5994400"/>
            <a:ext cx="2476500" cy="1016000"/>
          </a:xfrm>
          <a:prstGeom prst="rect">
            <a:avLst/>
          </a:prstGeom>
        </p:spPr>
        <p:txBody>
          <a:bodyPr anchor="t" rtlCol="false" lIns="0" tIns="0" rIns="0" bIns="0"/>
          <a:lstStyle/>
          <a:p>
            <a:pPr algn="l" lvl="0">
              <a:lnSpc>
                <a:spcPct val="116199"/>
              </a:lnSpc>
            </a:pPr>
            <a:r>
              <a:rPr lang="en-US" sz="1400" b="false" i="false" u="none" strike="noStrike">
                <a:solidFill>
                  <a:srgbClr val="171717"/>
                </a:solidFill>
                <a:latin typeface="Hauora Regular"/>
                <a:ea typeface="Hauora Regular"/>
                <a:cs typeface="Hauora Regular"/>
              </a:rPr>
              <a:t>30-minute strategy session to get your tailored [pipeline audit and revenue growth blueprint].</a:t>
            </a:r>
          </a:p>
        </p:txBody>
      </p:sp>
      <p:sp>
        <p:nvSpPr>
          <p:cNvPr name="TextBox 26" id="26"/>
          <p:cNvSpPr txBox="true"/>
          <p:nvPr/>
        </p:nvSpPr>
        <p:spPr>
          <a:xfrm rot="0">
            <a:off x="5689600" y="5130800"/>
            <a:ext cx="2514600" cy="444500"/>
          </a:xfrm>
          <a:prstGeom prst="rect">
            <a:avLst/>
          </a:prstGeom>
        </p:spPr>
        <p:txBody>
          <a:bodyPr anchor="t" rtlCol="false" lIns="0" tIns="0" rIns="0" bIns="0"/>
          <a:lstStyle/>
          <a:p>
            <a:pPr algn="l" lvl="0">
              <a:lnSpc>
                <a:spcPct val="116199"/>
              </a:lnSpc>
            </a:pPr>
            <a:r>
              <a:rPr lang="en-US" sz="2400" b="false" i="false" u="none" strike="noStrike">
                <a:solidFill>
                  <a:srgbClr val="171717"/>
                </a:solidFill>
                <a:latin typeface="Hauora Regular"/>
                <a:ea typeface="Hauora Regular"/>
                <a:cs typeface="Hauora Regular"/>
              </a:rPr>
              <a:t>Book a quick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